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소요일</c:v>
                </c:pt>
              </c:strCache>
            </c:strRef>
          </c:tx>
          <c:spPr>
            <a:solidFill>
              <a:srgbClr val="B3B3B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F37-49FC-BA7D-F45BEBC17623}"/>
              </c:ext>
            </c:extLst>
          </c:dPt>
          <c:dPt>
            <c:idx val="1"/>
            <c:invertIfNegative val="0"/>
            <c:bubble3D val="0"/>
            <c:spPr>
              <a:solidFill>
                <a:srgbClr val="7676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F37-49FC-BA7D-F45BEBC17623}"/>
              </c:ext>
            </c:extLst>
          </c:dPt>
          <c:dPt>
            <c:idx val="2"/>
            <c:invertIfNegative val="0"/>
            <c:bubble3D val="0"/>
            <c:spPr>
              <a:solidFill>
                <a:srgbClr val="1111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F37-49FC-BA7D-F45BEBC17623}"/>
              </c:ext>
            </c:extLst>
          </c:dPt>
          <c:dLbls>
            <c:numFmt formatCode="0.00&quot;일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11111"/>
                    </a:solidFill>
                    <a:latin typeface="Calibri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Payment
Approval</c:v>
                </c:pt>
                <c:pt idx="1">
                  <c:v>Seller
Processing</c:v>
                </c:pt>
                <c:pt idx="2">
                  <c:v>Carrier
Delivery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</c:v>
                </c:pt>
                <c:pt idx="1">
                  <c:v>2.85</c:v>
                </c:pt>
                <c:pt idx="2">
                  <c:v>9.36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F37-49FC-BA7D-F45BEBC176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F3F3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"/>
          <c:min val="0"/>
        </c:scaling>
        <c:delete val="0"/>
        <c:axPos val="l"/>
        <c:majorGridlines>
          <c:spPr>
            <a:ln w="9525" cap="flat">
              <a:solidFill>
                <a:srgbClr val="E8E8E8"/>
              </a:solidFill>
              <a:prstDash val="solid"/>
              <a:round/>
            </a:ln>
          </c:spPr>
        </c:majorGridlines>
        <c:numFmt formatCode="0&quot;일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Carrier 소요일</c:v>
                </c:pt>
              </c:strCache>
            </c:strRef>
          </c:tx>
          <c:spPr>
            <a:solidFill>
              <a:srgbClr val="B3B3B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3E1-4483-A10C-4F17E6644E2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3E1-4483-A10C-4F17E6644E2C}"/>
              </c:ext>
            </c:extLst>
          </c:dPt>
          <c:dPt>
            <c:idx val="2"/>
            <c:invertIfNegative val="0"/>
            <c:bubble3D val="0"/>
            <c:spPr>
              <a:solidFill>
                <a:srgbClr val="7676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3E1-4483-A10C-4F17E6644E2C}"/>
              </c:ext>
            </c:extLst>
          </c:dPt>
          <c:dPt>
            <c:idx val="3"/>
            <c:invertIfNegative val="0"/>
            <c:bubble3D val="0"/>
            <c:spPr>
              <a:solidFill>
                <a:srgbClr val="1111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3E1-4483-A10C-4F17E6644E2C}"/>
              </c:ext>
            </c:extLst>
          </c:dPt>
          <c:dPt>
            <c:idx val="4"/>
            <c:invertIfNegative val="0"/>
            <c:bubble3D val="0"/>
            <c:spPr>
              <a:solidFill>
                <a:srgbClr val="1111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3E1-4483-A10C-4F17E6644E2C}"/>
              </c:ext>
            </c:extLst>
          </c:dPt>
          <c:dPt>
            <c:idx val="5"/>
            <c:invertIfNegative val="0"/>
            <c:bubble3D val="0"/>
            <c:spPr>
              <a:solidFill>
                <a:srgbClr val="1111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3E1-4483-A10C-4F17E6644E2C}"/>
              </c:ext>
            </c:extLst>
          </c:dPt>
          <c:dLbls>
            <c:numFmt formatCode="0.0&quot;일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11111"/>
                    </a:solidFill>
                    <a:latin typeface="Calibri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P25</c:v>
                </c:pt>
                <c:pt idx="1">
                  <c:v>중위(P50)</c:v>
                </c:pt>
                <c:pt idx="2">
                  <c:v>P75</c:v>
                </c:pt>
                <c:pt idx="3">
                  <c:v>P90</c:v>
                </c:pt>
                <c:pt idx="4">
                  <c:v>P95</c:v>
                </c:pt>
                <c:pt idx="5">
                  <c:v>P99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4.1100000000000003</c:v>
                </c:pt>
                <c:pt idx="1">
                  <c:v>7.11</c:v>
                </c:pt>
                <c:pt idx="2">
                  <c:v>12.06</c:v>
                </c:pt>
                <c:pt idx="3">
                  <c:v>18.95</c:v>
                </c:pt>
                <c:pt idx="4">
                  <c:v>24.33</c:v>
                </c:pt>
                <c:pt idx="5">
                  <c:v>41.03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3E1-4483-A10C-4F17E6644E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F3F3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6"/>
          <c:min val="0"/>
        </c:scaling>
        <c:delete val="0"/>
        <c:axPos val="l"/>
        <c:majorGridlines>
          <c:spPr>
            <a:ln w="9525" cap="flat">
              <a:solidFill>
                <a:srgbClr val="E8E8E8"/>
              </a:solidFill>
              <a:prstDash val="solid"/>
              <a:round/>
            </a:ln>
          </c:spPr>
        </c:majorGridlines>
        <c:numFmt formatCode="0&quot;일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설명력</c:v>
                </c:pt>
              </c:strCache>
            </c:strRef>
          </c:tx>
          <c:spPr>
            <a:solidFill>
              <a:srgbClr val="111111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11111"/>
                    </a:solidFill>
                    <a:latin typeface="Calibri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상품 무게 (ρ²)</c:v>
                </c:pt>
                <c:pt idx="1">
                  <c:v>셀러 주(州) η²</c:v>
                </c:pt>
                <c:pt idx="2">
                  <c:v>상품 카테고리 η²</c:v>
                </c:pt>
                <c:pt idx="3">
                  <c:v>월(月) η²</c:v>
                </c:pt>
                <c:pt idx="4">
                  <c:v>연-월 계절성 η²</c:v>
                </c:pt>
                <c:pt idx="5">
                  <c:v>지역 η²</c:v>
                </c:pt>
                <c:pt idx="6">
                  <c:v>동일주 여부 η²</c:v>
                </c:pt>
                <c:pt idx="7">
                  <c:v>배송비 (ρ²)</c:v>
                </c:pt>
                <c:pt idx="8">
                  <c:v>고객 주(州) η²</c:v>
                </c:pt>
                <c:pt idx="9">
                  <c:v>거리 (ρ²)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0.3</c:v>
                </c:pt>
                <c:pt idx="1">
                  <c:v>0.4</c:v>
                </c:pt>
                <c:pt idx="2">
                  <c:v>0.6</c:v>
                </c:pt>
                <c:pt idx="3">
                  <c:v>5.6</c:v>
                </c:pt>
                <c:pt idx="4">
                  <c:v>6.9</c:v>
                </c:pt>
                <c:pt idx="5">
                  <c:v>12.7</c:v>
                </c:pt>
                <c:pt idx="6">
                  <c:v>15.1</c:v>
                </c:pt>
                <c:pt idx="7">
                  <c:v>16.7</c:v>
                </c:pt>
                <c:pt idx="8">
                  <c:v>20.100000000000001</c:v>
                </c:pt>
                <c:pt idx="9">
                  <c:v>37.799999999999997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D0-4093-9EC5-2AE55C396A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F3F3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b"/>
        <c:majorGridlines>
          <c:spPr>
            <a:ln w="9525" cap="flat">
              <a:solidFill>
                <a:srgbClr val="E8E8E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Carrier 소요일</c:v>
                </c:pt>
              </c:strCache>
            </c:strRef>
          </c:tx>
          <c:spPr>
            <a:ln w="31750" cap="flat">
              <a:solidFill>
                <a:srgbClr val="111111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111111"/>
              </a:solidFill>
              <a:ln w="9525" cap="flat">
                <a:solidFill>
                  <a:srgbClr val="111111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11111"/>
                    </a:solidFill>
                    <a:latin typeface="Calibri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~100km</c:v>
                </c:pt>
                <c:pt idx="1">
                  <c:v>100–250</c:v>
                </c:pt>
                <c:pt idx="2">
                  <c:v>250–500</c:v>
                </c:pt>
                <c:pt idx="3">
                  <c:v>500–800</c:v>
                </c:pt>
                <c:pt idx="4">
                  <c:v>800–1.2k</c:v>
                </c:pt>
                <c:pt idx="5">
                  <c:v>1.2k–1.8k</c:v>
                </c:pt>
                <c:pt idx="6">
                  <c:v>1.8k–3k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3.36</c:v>
                </c:pt>
                <c:pt idx="1">
                  <c:v>6.27</c:v>
                </c:pt>
                <c:pt idx="2">
                  <c:v>9.09</c:v>
                </c:pt>
                <c:pt idx="3">
                  <c:v>10.91</c:v>
                </c:pt>
                <c:pt idx="4">
                  <c:v>11.89</c:v>
                </c:pt>
                <c:pt idx="5">
                  <c:v>15.01</c:v>
                </c:pt>
                <c:pt idx="6">
                  <c:v>17.53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41-4BAF-905B-D5CFF9D8FB3C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F3F3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1"/>
          <c:min val="0"/>
        </c:scaling>
        <c:delete val="0"/>
        <c:axPos val="l"/>
        <c:majorGridlines>
          <c:spPr>
            <a:ln w="9525" cap="flat">
              <a:solidFill>
                <a:srgbClr val="E8E8E8"/>
              </a:solidFill>
              <a:prstDash val="solid"/>
              <a:round/>
            </a:ln>
          </c:spPr>
        </c:majorGridlines>
        <c:numFmt formatCode="0&quot;일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Carrier 소요일</c:v>
                </c:pt>
              </c:strCache>
            </c:strRef>
          </c:tx>
          <c:spPr>
            <a:solidFill>
              <a:srgbClr val="111111"/>
            </a:solidFill>
            <a:effectLst/>
          </c:spPr>
          <c:invertIfNegative val="0"/>
          <c:dLbls>
            <c:numFmt formatCode="0.0&quot;일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11111"/>
                    </a:solidFill>
                    <a:latin typeface="Calibri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남동부 Southeast</c:v>
                </c:pt>
                <c:pt idx="1">
                  <c:v>남부 South</c:v>
                </c:pt>
                <c:pt idx="2">
                  <c:v>중서부 Central-West</c:v>
                </c:pt>
                <c:pt idx="3">
                  <c:v>북동부 Northeast</c:v>
                </c:pt>
                <c:pt idx="4">
                  <c:v>북부 North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7.57</c:v>
                </c:pt>
                <c:pt idx="1">
                  <c:v>10.84</c:v>
                </c:pt>
                <c:pt idx="2">
                  <c:v>11.9</c:v>
                </c:pt>
                <c:pt idx="3">
                  <c:v>16.68</c:v>
                </c:pt>
                <c:pt idx="4">
                  <c:v>19.29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AA-409C-9276-594360EB55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F3F3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3"/>
          <c:min val="0"/>
        </c:scaling>
        <c:delete val="0"/>
        <c:axPos val="b"/>
        <c:majorGridlines>
          <c:spPr>
            <a:ln w="9525" cap="flat">
              <a:solidFill>
                <a:srgbClr val="E8E8E8"/>
              </a:solidFill>
              <a:prstDash val="solid"/>
              <a:round/>
            </a:ln>
          </c:spPr>
        </c:majorGridlines>
        <c:numFmt formatCode="0&quot;일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Carrier 소요일</c:v>
                </c:pt>
              </c:strCache>
            </c:strRef>
          </c:tx>
          <c:spPr>
            <a:ln w="25400" cap="flat">
              <a:solidFill>
                <a:srgbClr val="11111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11111"/>
              </a:solidFill>
              <a:ln w="9525" cap="flat">
                <a:solidFill>
                  <a:srgbClr val="111111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17.09</c:v>
                </c:pt>
                <c:pt idx="1">
                  <c:v>17.10</c:v>
                </c:pt>
                <c:pt idx="2">
                  <c:v>17.11</c:v>
                </c:pt>
                <c:pt idx="3">
                  <c:v>17.12</c:v>
                </c:pt>
                <c:pt idx="4">
                  <c:v>18.01</c:v>
                </c:pt>
                <c:pt idx="5">
                  <c:v>18.02</c:v>
                </c:pt>
                <c:pt idx="6">
                  <c:v>18.03</c:v>
                </c:pt>
                <c:pt idx="7">
                  <c:v>18.04</c:v>
                </c:pt>
                <c:pt idx="8">
                  <c:v>18.05</c:v>
                </c:pt>
                <c:pt idx="9">
                  <c:v>18.06</c:v>
                </c:pt>
                <c:pt idx="10">
                  <c:v>18.07</c:v>
                </c:pt>
                <c:pt idx="11">
                  <c:v>18.08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8.65</c:v>
                </c:pt>
                <c:pt idx="1">
                  <c:v>8.41</c:v>
                </c:pt>
                <c:pt idx="2">
                  <c:v>11.09</c:v>
                </c:pt>
                <c:pt idx="3">
                  <c:v>11.67</c:v>
                </c:pt>
                <c:pt idx="4">
                  <c:v>10.48</c:v>
                </c:pt>
                <c:pt idx="5">
                  <c:v>13.39</c:v>
                </c:pt>
                <c:pt idx="6">
                  <c:v>12.97</c:v>
                </c:pt>
                <c:pt idx="7">
                  <c:v>8.75</c:v>
                </c:pt>
                <c:pt idx="8">
                  <c:v>8.73</c:v>
                </c:pt>
                <c:pt idx="9">
                  <c:v>6.67</c:v>
                </c:pt>
                <c:pt idx="10">
                  <c:v>6.14</c:v>
                </c:pt>
                <c:pt idx="11">
                  <c:v>5.2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0EE-4D6C-9CED-9FBEBEE78E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F3F3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"/>
          <c:min val="0"/>
        </c:scaling>
        <c:delete val="0"/>
        <c:axPos val="l"/>
        <c:majorGridlines>
          <c:spPr>
            <a:ln w="9525" cap="flat">
              <a:solidFill>
                <a:srgbClr val="E8E8E8"/>
              </a:solidFill>
              <a:prstDash val="solid"/>
              <a:round/>
            </a:ln>
          </c:spPr>
        </c:majorGridlines>
        <c:numFmt formatCode="0&quot;일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1–2점 리뷰 비율</c:v>
                </c:pt>
              </c:strCache>
            </c:strRef>
          </c:tx>
          <c:spPr>
            <a:solidFill>
              <a:srgbClr val="B3B3B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C55-42AF-BDC0-6E450BE0108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C55-42AF-BDC0-6E450BE0108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FC55-42AF-BDC0-6E450BE01088}"/>
              </c:ext>
            </c:extLst>
          </c:dPt>
          <c:dPt>
            <c:idx val="3"/>
            <c:invertIfNegative val="0"/>
            <c:bubble3D val="0"/>
            <c:spPr>
              <a:solidFill>
                <a:srgbClr val="7676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C55-42AF-BDC0-6E450BE01088}"/>
              </c:ext>
            </c:extLst>
          </c:dPt>
          <c:dPt>
            <c:idx val="4"/>
            <c:invertIfNegative val="0"/>
            <c:bubble3D val="0"/>
            <c:spPr>
              <a:solidFill>
                <a:srgbClr val="1111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C55-42AF-BDC0-6E450BE01088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11111"/>
                    </a:solidFill>
                    <a:latin typeface="Calibri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1분위 (최단)</c:v>
                </c:pt>
                <c:pt idx="1">
                  <c:v>2분위</c:v>
                </c:pt>
                <c:pt idx="2">
                  <c:v>3분위</c:v>
                </c:pt>
                <c:pt idx="3">
                  <c:v>4분위</c:v>
                </c:pt>
                <c:pt idx="4">
                  <c:v>5분위 (최장)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8.42</c:v>
                </c:pt>
                <c:pt idx="1">
                  <c:v>9.02</c:v>
                </c:pt>
                <c:pt idx="2">
                  <c:v>9.51</c:v>
                </c:pt>
                <c:pt idx="3">
                  <c:v>10.15</c:v>
                </c:pt>
                <c:pt idx="4">
                  <c:v>26.92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C55-42AF-BDC0-6E450BE010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F3F3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2"/>
          <c:min val="0"/>
        </c:scaling>
        <c:delete val="0"/>
        <c:axPos val="l"/>
        <c:majorGridlines>
          <c:spPr>
            <a:ln w="9525" cap="flat">
              <a:solidFill>
                <a:srgbClr val="E8E8E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현재 (As-Is)</c:v>
                </c:pt>
              </c:strCache>
            </c:strRef>
          </c:tx>
          <c:spPr>
            <a:solidFill>
              <a:srgbClr val="B3B3B3"/>
            </a:solidFill>
            <a:effectLst/>
          </c:spPr>
          <c:invertIfNegative val="0"/>
          <c:dLbls>
            <c:numFmt formatCode="0.00&quot;일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11111"/>
                    </a:solidFill>
                    <a:latin typeface="Calibri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Payment
Approval</c:v>
                </c:pt>
                <c:pt idx="1">
                  <c:v>Seller
Processing</c:v>
                </c:pt>
                <c:pt idx="2">
                  <c:v>Carrier
Delivery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</c:v>
                </c:pt>
                <c:pt idx="1">
                  <c:v>2.85</c:v>
                </c:pt>
                <c:pt idx="2">
                  <c:v>9.36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8D-4378-8E06-40F6E4BF70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권고 조합 적용 후</c:v>
                </c:pt>
              </c:strCache>
            </c:strRef>
          </c:tx>
          <c:spPr>
            <a:solidFill>
              <a:srgbClr val="111111"/>
            </a:solidFill>
            <a:effectLst/>
          </c:spPr>
          <c:invertIfNegative val="0"/>
          <c:dLbls>
            <c:numFmt formatCode="0.00&quot;일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11111"/>
                    </a:solidFill>
                    <a:latin typeface="Calibri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Payment
Approval</c:v>
                </c:pt>
                <c:pt idx="1">
                  <c:v>Seller
Processing</c:v>
                </c:pt>
                <c:pt idx="2">
                  <c:v>Carrier
Delivery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0.02</c:v>
                </c:pt>
                <c:pt idx="1">
                  <c:v>2.02</c:v>
                </c:pt>
                <c:pt idx="2">
                  <c:v>8.39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8D-4378-8E06-40F6E4BF70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F3F3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"/>
          <c:min val="0"/>
        </c:scaling>
        <c:delete val="0"/>
        <c:axPos val="l"/>
        <c:majorGridlines>
          <c:spPr>
            <a:ln w="9525" cap="flat">
              <a:solidFill>
                <a:srgbClr val="E8E8E8"/>
              </a:solidFill>
              <a:prstDash val="solid"/>
              <a:round/>
            </a:ln>
          </c:spPr>
        </c:majorGridlines>
        <c:numFmt formatCode="0&quot;일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F3F3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7473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배송 리드타임 12.6일 중 74%가 Carrier Delivery 구간에 집중. 본 보고서는 병목 확정 → 통계적 원인 규명 → 개선 시나리오 → A/B 검증 설계까지를 다룬다.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우선순위 결론: 자본투자(FC)보다 프로세스 개선 3종이 먼저다.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Payment 중위값이 0.01일인 것은 신용카드 즉시 승인 때문이며, 평균 0.40일은 boleto(무기명 입금표)가 끌어올린 값이다.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카테고리를 71개 더미로 넣어도 R²는 0.3%p만 오른다. 즉 상품별 배송정책 세분화는 투자 대비 효과가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주의: Olist 데이터는 재구매 식별이 어려워 LTV 손실을 직접 추정하지 않았다. 여기서 R$1.25M은 '손실액'이 아니라 '평판 리스크에 노출된 거래액'이다.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S1은 효과가 없는 게 아니라 효율이 낮다. 도달 주문이 11%인데 CAPEX와 9개월이 필요해 스코어가 최하위가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⚠ 표시는 실무적으로 실행 기간이 과도해 1차 지표 재설정이 필요한 조합.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515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 · 2026.08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Olist 배송 프로세스</a:t>
            </a:r>
            <a:endParaRPr lang="en-US" sz="4600" dirty="0"/>
          </a:p>
          <a:p>
            <a:pPr marL="0" indent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병목 진단 및 개선 설계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051560" y="37490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Approval → Seller Processing → Carrier Delivery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51560" y="4343400"/>
            <a:ext cx="9966960" cy="0"/>
          </a:xfrm>
          <a:prstGeom prst="line">
            <a:avLst/>
          </a:prstGeom>
          <a:noFill/>
          <a:ln w="12700">
            <a:solidFill>
              <a:srgbClr val="3F3F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51560" y="47091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대상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51560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배송 완료 주문 95,082건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30168" y="47091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 기간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30168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2016.09 – 2018.08 (24개월)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08776" y="47091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데이터셋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08776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9개 테이블 · 결합 후 42개 변수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787384" y="47091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방법론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787384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구간 분해 → 효과크기 분석 → 시나리오 · A/B 설계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6928" y="64190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Delivery Process · Executive Report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결론 4가지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리드타임 12.6일 중 74%가 Carrier Delivery에 집중되어 있고, 그 편차는 상품이 아니라 '거리'가 만든다.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755648"/>
            <a:ext cx="2615184" cy="1481328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49808" y="188366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12.6일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49808" y="25420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총 리드타임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9808" y="27797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중위 10.3일 · P90 23.2일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64992" y="1755648"/>
            <a:ext cx="2615184" cy="1481328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547872" y="188366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74.2%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547872" y="25420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구간 비중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547872" y="27797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9.36일 / 12.62일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63056" y="1755648"/>
            <a:ext cx="2615184" cy="1481328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345936" y="188366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= 0.615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345936" y="25420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거리–배송시간 상관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45936" y="27797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최강 단일 설명변수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61120" y="1755648"/>
            <a:ext cx="2615184" cy="1481328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144000" y="188366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8.2%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144000" y="25420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약속일 초과 지연율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0" y="27797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지연 시 저평점률 56.7%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6928" y="34198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B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69848" y="34015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병목은 Carrier Delivery로 단일 확정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56048" y="3401568"/>
            <a:ext cx="6668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9.36일(74.2%) · 변동계수 0.94 · P90 18.9일. Seller Processing 2.85일(22.6%), Payment Approval 0.40일(3.2%)로 두 구간을 모두 0으로 만들어도 리드타임은 26%만 줄어든다.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4059936"/>
            <a:ext cx="11057839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66928" y="4151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B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69848" y="41330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원인은 거리·지리 구조 (상품 특성 아님)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56048" y="4133088"/>
            <a:ext cx="6668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거리 ρ=0.615, 고객 주(州) η²=0.201, 동일주 여부 η²=0.151(Cohen d=0.877). 반면 상품 카테고리 η²=0.006 — 71개 카테고리 전체 범위가 8.1~10.6일에 불과하다. 셀러 71%가 SP주에 집중된 구조적 문제.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4791456"/>
            <a:ext cx="11057839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66928" y="48828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B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69848" y="48646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손실은 평균이 아니라 롱테일에서 발생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956048" y="4864608"/>
            <a:ext cx="6668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10% 주문(18.9일 이상)이 전체 Carrier 시간의 30.5%를 차지. 지연 주문의 56.7%가 1–2점 리뷰(정시 9.4%)로, 연환산 R$1.25M(GMV의 10.0%)이 평판 리스크에 노출.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" y="5522976"/>
            <a:ext cx="11057839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66928" y="56144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B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69848" y="55961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권고: 저비용 3종 우선 실행 (FC 신설은 보류)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956048" y="5596128"/>
            <a:ext cx="6668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롱테일 예외관리 + 셀러 48h SLA + Boleto 승인 자동화 조합으로 리드타임 −2.17일(−17.2%), 지연율 8.2%→4.5% 예상. 지역 FC는 임팩트 스코어 최하위(1.6)로 A/B 선검증 후 판단.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6254496"/>
            <a:ext cx="11057839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566928" y="64190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Delivery Process · Executive Report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분석 설계와 데이터 처리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구간 정의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5577840" cy="786384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847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676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" y="1810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Approval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50208" y="18105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승인 대기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33856" y="21031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purchase_timestamp → approved_at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66928" y="2596896"/>
            <a:ext cx="5577840" cy="786384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676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33856" y="2706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Processing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50208" y="27066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셀러 피킹·포장·집하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" y="29992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approved_at → delivered_carrier_date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66928" y="3493008"/>
            <a:ext cx="5577840" cy="786384"/>
          </a:xfrm>
          <a:prstGeom prst="rect">
            <a:avLst/>
          </a:prstGeom>
          <a:solidFill>
            <a:srgbClr val="E8E8E8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31520" y="36393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676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33856" y="36027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Delivery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50208" y="36027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운송사 간선 + 라스트마일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3856" y="38953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67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delivered_carrier_date → delivered_customer_date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6928" y="44622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처리 및 제외 기준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4773168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상태 96,478건에서 출발 (전체 99,441건)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타임스탬프 결측 23건 제외 → 96,455건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구간 소요시간 음수 1,373건 제외 (집하일 &lt; 승인일 1,350건 포함) → 최종 95,082건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거리: 우편번호 앞 5자리별 좌표 중위값으로 Haversine 산출 (미매칭 471건)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56248" y="1371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방법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56248" y="1755648"/>
            <a:ext cx="64008" cy="14630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766560" y="17007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병목 탐지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66560" y="197510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구간별 평균·중위·P90·변동계수(CV) 비교 및 총 리드타임 기여도 분해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56248" y="2688336"/>
            <a:ext cx="64008" cy="14630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766560" y="26334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분석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290779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범주형: 일원분산분석 η² · F검정 / 연속형: Spearman ρ / 이분: Cohen's d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선형회귀 블록 투입으로 증분 설명력(ΔR²) 측정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56248" y="3858768"/>
            <a:ext cx="64008" cy="14630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766560" y="38039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임팩트 추정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66560" y="407822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 반응곡선 기반 반사실 시뮬레이션(잔차 보존) + 2018년 상반기 연환산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556248" y="4791456"/>
            <a:ext cx="64008" cy="14630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766560" y="47365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설계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66560" y="501091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양측 α=0.05, 검정력 80%, 클러스터 ICC 보정 표본 산출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556248" y="57790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한계: 관측 데이터 기반이므로 아래 관계는 상관이며, 인과 추정은 A/B 검증(섹션 6)을 전제로 한다.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6928" y="64190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Delivery Process · Executive Report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DETECTION ·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3개 구간 소요시간 분해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Delivery 한 구간이 전체 리드타임의 74.2%를 차지한다.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66928" y="1737360"/>
          <a:ext cx="58521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39128" y="1755648"/>
          <a:ext cx="5440680" cy="164592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Approval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1.39일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 Processing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2.85일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1.85일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6.02일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 Delivery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9.36일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7.11일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18.95일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i="1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총 리드타임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i="1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12.62일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i="1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10.27일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i="1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23.16일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i="1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i="1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739128" y="3566160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 근거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739128" y="3858768"/>
            <a:ext cx="5440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절대 크기: Seller 구간의 3.3배, Payment 구간의 23배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변동성: CV 0.94 — 예측 불가능성이 지연의 직접 원인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상한 효과: 다른 두 구간을 0으로 만들어도 리드타임은 25.8%만 감소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 18.95일 — 상위 10%가 전체 Carrier 시간의 30.5%를 소비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66928" y="5175504"/>
            <a:ext cx="11057839" cy="841248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/>
          <p:nvPr/>
        </p:nvSpPr>
        <p:spPr>
          <a:xfrm>
            <a:off x="768096" y="53583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664208" y="5321808"/>
            <a:ext cx="96862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병목 = Carrier Delivery. 이후 모든 원인 분석과 개선 시나리오는 이 구간을 종속변수로 설정한다. Payment / Seller 구간은 보조 레버로만 취급한다.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66928" y="64190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Delivery Process · Executive Report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DETECTION ·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Carrier 구간의 분포 — 평균이 아니라 꼬리가 문제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66928" y="1463040"/>
          <a:ext cx="685800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4370832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분위별 Carrier Delivery 소요일 (n=95,082)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882128" y="1554480"/>
            <a:ext cx="2057400" cy="1371600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046720" y="170078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30.5%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046720" y="2286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10% 주문이 소비하는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Carrier 시간 비중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0122408" y="1554480"/>
            <a:ext cx="2057400" cy="1371600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10287000" y="170078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5.8배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10287000" y="2286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41.0일 ÷ 중위 7.1일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극단 편차의 크기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882128" y="312724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882128" y="3419856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분포가 오른쪽으로 강하게 치우쳐 있어 '평균을 낮추는' 접근은 비효율적이다. 중위 주문은 이미 7일 내 도착하며, 지연 클레임과 저평점은 사실상 P90 이상 구간에서 발생한다. 따라서 개선 목표는 평균 단축이 아니라 꼬리 절단(tail truncation)으로 설정해야 한다.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" y="4937760"/>
            <a:ext cx="11057839" cy="1078992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41248" y="50840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8.2%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841248" y="54772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약속일 초과 지연율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630168" y="50840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25.7일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3630168" y="54772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지연 주문의 평균 Carrier 시간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19088" y="50840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7.9일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6419088" y="54772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정시 주문의 평균 Carrier 시간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208008" y="50840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3.25배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9208008" y="54772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지연군 / 정시군 배수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66928" y="64190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Delivery Process · Executive Report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·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변수별 효과크기 — 무엇이 실제로 설명하는가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지리 변수가 압도하고, 상품 카테고리는 통계적으로 유의하지만 실질적으로 무의미하다.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66928" y="1700784"/>
          <a:ext cx="667512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5431536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종속변수: Carrier Delivery 소요시간 · 단위: 설명 가능한 분산 비중(%) · 모두 p &lt; 0.001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562088" y="1783080"/>
            <a:ext cx="64008" cy="14630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772400" y="17190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거리가 단일 최강 변수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0" y="1993392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ρ=0.615. 순위 상관이므로 이상치에 강건하다. 배송비(ρ=0.408)는 거리의 대리변수로, 독립적 원인이 아니다.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562088" y="2752344"/>
            <a:ext cx="64008" cy="14630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772400" y="26883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동일주 여부의 효과가 크다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0" y="2962656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주 내 배송 4.82일 vs 타 주 배송 11.91일. Cohen d=0.877(대효과), Welch t=−150.4. 주 경계를 넘는 순간 7일이 추가된다.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562088" y="3721608"/>
            <a:ext cx="64008" cy="14630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772400" y="3657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계절성은 2차 요인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0" y="393192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 η²=0.056. 2월(12.6일)·3월(12.1일)·11월(11.1일)이 고점, 8월(6.4일)이 저점. 블랙프라이데이(2017-11) 직후 지연율 14.3%.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562088" y="4690872"/>
            <a:ext cx="64008" cy="14630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772400" y="4626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속성은 사실상 무관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72400" y="4901184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 η²=0.006 — 71개 카테고리 전체가 8.07~10.62일 범위에 몰려 있다. 무게 ρ=0.059. '무거운 물건이 늦는다'는 가설은 기각.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562088" y="563270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증분 설명력(ΔR²): 거리 18.3% → +동일주 19.5% → +계절성 24.4% → +상품 물리속성 24.6% → +카테고리 71종 24.9%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566928" y="64190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Delivery Process · Executive Report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·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거리 반응곡선 — 체감형 구조가 말해주는 것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66928" y="1463040"/>
          <a:ext cx="66751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4498848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셀러–고객 직선거리 구간별 평균 Carrier Delivery 소요일 (n=94,611)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562088" y="14813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 기울기: 거리 100km당 추가 소요일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562088" y="1828800"/>
            <a:ext cx="4206240" cy="475488"/>
          </a:xfrm>
          <a:prstGeom prst="rect">
            <a:avLst/>
          </a:prstGeom>
          <a:solidFill>
            <a:srgbClr val="E8E8E8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726680" y="19385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0–200km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208008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+2.16일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396728" y="194767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절편 2.5일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562088" y="2377440"/>
            <a:ext cx="4206240" cy="475488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726680" y="2487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200–600km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208008" y="2468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+0.61일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396728" y="249631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절편 6.8일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562088" y="2926080"/>
            <a:ext cx="4206240" cy="475488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7726680" y="3035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600–1,200km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208008" y="3017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+0.34일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396728" y="304495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절편 8.9일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562088" y="3474720"/>
            <a:ext cx="4206240" cy="475488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7726680" y="35844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1,200km+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208008" y="3566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+0.31일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396728" y="359359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절편 10.5일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562088" y="4114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해석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562088" y="4407408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기울기가 거리에 따라 급격히 완만해진다. 즉 지연의 대부분은 '이동 거리 자체'가 아니라 최초 구간의 고정 오버헤드 — 집하, 허브 입고, 분류, 간선 대기 — 에서 발생한다. 1,200km를 더 가는 비용이 3.7일인데, 200km 안쪽에서 이미 2.5일의 절편이 붙는다.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실무적 함의: 물리적 거리를 줄이는 것(FC 신설)보다 허브 처리·간선 스케줄링을 개선하는 것이 단위 투자당 효과가 크다.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66928" y="4846320"/>
            <a:ext cx="6675120" cy="1188720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768096" y="497433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동일주 배송 vs 주 경계 통과 배송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68096" y="52669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4.82일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768096" y="56235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주 내 (n=34,181)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2916936" y="52669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11.91일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2916936" y="56235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 주 (n=60,901)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065776" y="52669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+7.09일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5065776" y="56235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격차 · Cohen d=0.877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66928" y="64190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Delivery Process · Executive Report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·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지역 격차와 셀러 집중의 구조적 문제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66928" y="1417320"/>
          <a:ext cx="59436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041648"/>
          <a:ext cx="5943600" cy="175564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주문비중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평균거리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지연율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북부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2,241km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북동부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1,782km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중서부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900km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남부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655km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남동부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359km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66928" y="585216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주(州) η² = 0.201 · 최악 AL주 20.9일 vs 최선 SP주 5.61일 (3.7배)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876288" y="14447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공급측 집중이 지역 격차를 만든다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876288" y="1792224"/>
            <a:ext cx="4754880" cy="1170432"/>
          </a:xfrm>
          <a:prstGeom prst="rect">
            <a:avLst/>
          </a:prstGeom>
          <a:solidFill>
            <a:srgbClr val="E8E8E8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5"/>
          <p:cNvSpPr/>
          <p:nvPr/>
        </p:nvSpPr>
        <p:spPr>
          <a:xfrm>
            <a:off x="7059168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71.3%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8887968" y="195681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판매 아이템 중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SP주(상파울루) 셀러 비중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7059168" y="252374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셀러 수 기준으로도 59.7% (1,849명 / 3,095명). 2위 MG주는 아이템 7.8%에 불과하다.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876288" y="307238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북동부·북부 고객은 구조적으로 1,800~2,200km 원거리 배송을 강제받는다. 이는 개별 셀러의 성과 문제가 아니라 마켓플레이스 공급망 배치의 문제다.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876288" y="38039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계절성: 성수기 직후가 취약하다</a:t>
            </a:r>
            <a:endParaRPr lang="en-US" sz="1300" dirty="0"/>
          </a:p>
        </p:txBody>
      </p:sp>
      <p:graphicFrame>
        <p:nvGraphicFramePr>
          <p:cNvPr id="14" name="Chart 1"/>
          <p:cNvGraphicFramePr/>
          <p:nvPr/>
        </p:nvGraphicFramePr>
        <p:xfrm>
          <a:off x="6830568" y="4096512"/>
          <a:ext cx="4846320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 10"/>
          <p:cNvSpPr/>
          <p:nvPr/>
        </p:nvSpPr>
        <p:spPr>
          <a:xfrm>
            <a:off x="6876288" y="587044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2017-11 블랙프라이데이 이후 상승 → 2018-03 지연율 21.4% 정점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566928" y="64190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Delivery Process · Executive Report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배송 지연이 실제로 파괴하는 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배송 시간은 그 자체가 지표가 아니라, 고객 평판을 통해 매출로 전이되는 선행 지표다.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3520440" cy="1371600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68096" y="18836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지연 발생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68096" y="21945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약속일 초과 8.2%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(연환산 7,321건)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33088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498848" y="1737360"/>
            <a:ext cx="3520440" cy="1371600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700016" y="18836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평판 훼손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00016" y="21945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지연 시 1–2점 리뷰 56.7%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정시 대비 +47.3%p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65008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430768" y="1737360"/>
            <a:ext cx="3520440" cy="1371600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631936" y="18836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매출 노출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31936" y="21945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지연 주문 GMV R$1.25M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전체 GMV의 10.0%</a:t>
            </a:r>
            <a:endParaRPr lang="en-US" sz="12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66928" y="3383280"/>
          <a:ext cx="58521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566928" y="5797296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소요시간 5분위별 1–2점 리뷰 비율 · Spearman ρ = −0.196 (p&lt;0.001)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784848" y="34015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비선형 관계에 주목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784848" y="3712464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1~4분위의 저평점률은 8.4%→10.2%로 거의 평평하다. 5분위에서만 26.9%로 급등한다. 즉 고객은 배송이 '조금 느린 것'에는 관대하고, 임계점을 넘는 순간에만 반응한다.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이는 앞선 꼬리 절단(tail truncation) 전략과 정확히 일치하는 근거다. 평균 1일 단축은 평점을 거의 움직이지 못하지만, 최악 10%를 정상화하면 평점 개선이 즉시 나타난다.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784848" y="5358384"/>
            <a:ext cx="4846320" cy="640080"/>
          </a:xfrm>
          <a:prstGeom prst="rect">
            <a:avLst/>
          </a:prstGeom>
          <a:solidFill>
            <a:srgbClr val="E8E8E8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6967728" y="552297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연환산 기준: 주문 77,889건 · GMV R$12.55M · AOV R$161.15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566928" y="64190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Delivery Process · Executive Report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SCENARIOS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개선 시나리오 4종과 우선순위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7839" cy="1042416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7007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676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16736" y="15179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북동부·북부 지역 물류센터(FC) 신설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316736" y="182880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원거리 주문의 출발지를 고객 권역 내로 이동. 대상 주문 11.2%(10,639건).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36208" y="15544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리드타임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236208" y="17922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−0.65일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53528" y="15544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지연율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653528" y="17922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−0.60%p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070848" y="15544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· 기간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070848" y="17922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· 9개월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488168" y="15544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임팩트 스코어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488168" y="17922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6928" y="2487168"/>
            <a:ext cx="11057839" cy="1042416"/>
          </a:xfrm>
          <a:prstGeom prst="rect">
            <a:avLst/>
          </a:prstGeom>
          <a:solidFill>
            <a:srgbClr val="E8E8E8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" y="28163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316736" y="26334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롱테일(P90+) 배송 예외관리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316736" y="2944368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18.9일 초과 예상 주문을 실시간 플래깅해 대체 운송사·긴급 배차로 전환.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36208" y="26700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리드타임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36208" y="29077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−0.96일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53528" y="26700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지연율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653528" y="29077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−2.10%p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70848" y="26700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· 기간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070848" y="29077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· 2개월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488168" y="26700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임팩트 스코어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488168" y="29077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19.2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66928" y="3602736"/>
            <a:ext cx="11057839" cy="1042416"/>
          </a:xfrm>
          <a:prstGeom prst="rect">
            <a:avLst/>
          </a:prstGeom>
          <a:solidFill>
            <a:srgbClr val="E8E8E8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731520" y="39319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1316736" y="3749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셀러 출고 SLA(48시간) 도입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316736" y="405993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출고 P75 초과 셀러 1,925명(주문 23,653건) 대상. 이들의 현재 평균 출고 7.0일.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36208" y="37856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리드타임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36208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−0.83일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653528" y="37856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지연율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653528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−1.20%p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070848" y="37856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· 기간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070848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· 3개월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488168" y="37856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임팩트 스코어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488168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34.6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66928" y="4718304"/>
            <a:ext cx="11057839" cy="1042416"/>
          </a:xfrm>
          <a:prstGeom prst="rect">
            <a:avLst/>
          </a:prstGeom>
          <a:solidFill>
            <a:srgbClr val="E8E8E8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731520" y="50474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S4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1316736" y="48646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Boleto 결제승인 자동화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316736" y="5175504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Boleto 승인 32.2시간 vs 신용카드 3.9시간. 은행 입금 확인 API 실시간 연동.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36208" y="49011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리드타임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236208" y="51389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−0.38일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653528" y="49011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지연율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653528" y="51389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−0.35%p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9070848" y="49011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· 기간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9070848" y="51389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Very Low · 1개월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10488168" y="49011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6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임팩트 스코어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0488168" y="51389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37.6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566928" y="58704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임팩트 스코어 = |Δ리드타임(일)| × 도달률(%) × 실행가능성(1–5) ÷ 구현기간(월)  ·  반사실 시뮬레이션은 관측 반응곡선에 개별 잔차를 보존해 산출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566928" y="64190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Delivery Process · Executive Report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PACKAGE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권고 조합: S2 + S3 + S4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자본투자 없이 리드타임 17.2% 단축이 가능하다.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66928" y="1737360"/>
          <a:ext cx="60350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4700016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리드타임 12.62일 → 10.44일 (−2.17일, −17.2%) · 구간 독립 가정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967728" y="1755648"/>
            <a:ext cx="2286000" cy="1316736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132320" y="19019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−17.2%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132320" y="241401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리드타임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132320" y="266090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12.62일 → 10.44일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9418320" y="1755648"/>
            <a:ext cx="2286000" cy="1316736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9582912" y="19019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9582912" y="241401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 지연율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582912" y="266090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8.2%에서 −3.7%p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967728" y="3236976"/>
            <a:ext cx="2286000" cy="1316736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7132320" y="3383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2,843건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7132320" y="389534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연간 지연 회피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132320" y="41422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연환산 77,889건 기준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9418320" y="3236976"/>
            <a:ext cx="2286000" cy="1316736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9582912" y="3383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1,343건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9582912" y="389534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연간 저평점 회피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582912" y="41422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1–2점 리뷰 기준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66928" y="5047488"/>
            <a:ext cx="11057839" cy="969264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768096" y="51755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전제와 한계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487168" y="5175504"/>
            <a:ext cx="88632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시나리오의 효과를 상호 독립으로 가정해 단순 합산했다. 실제로는 S3(빠른 출고)와 S2(롱테일 관리)의 대상 주문이 일부 겹치므로 합산 효과는 과대추정일 수 있다. 또한 모든 수치는 관측 데이터 기반 반사실 추정치이므로, 실행 전 섹션 6의 A/B 검증이 필수다.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66928" y="64190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Delivery Process · Executive Report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DESIGN ·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검증 설계 개요 — 4개 실험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64240" cy="201168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랜덤화 단위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1차 지표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가드레일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지역 FC (S1)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권역 내 출고로 전환하면 배송일수가 단축된다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우편번호 3자리 클러스터 (243개)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 소요일수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주문당 배송비, 리뷰 평점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셀러 SLA (S3)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48h 출고 룰 + 인센티브가 출고 지연을 줄인다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셀러 단위 클러스터 (2,307명)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출고 소요일수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셀러 이탈률, 취소율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Boleto 자동화 (S4)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입금 확인 실시간화가 승인 대기를 없앤다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주문 단위 (개별)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결제 승인 시간(h)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결제 실패율, 사기 거래율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· 롱테일 관리 (S2)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지연 예측 주문의 배차 전환이 꼬리를 절단한다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주문 단위 (개별, 800km+)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지연율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주문당 배송비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36758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원칙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66928" y="3986784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양측 α = 0.05, 검정력 1−β = 80% 고정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A·B는 개입이 지리/셀러 단위로만 가능해 클러스터 랜덤화가 불가피 → ICC 보정 필수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계절성이 유의(η²=0.056)하므로 최소 1개 완전 계절 구간을 포함하고, 사전 층화(주·카테고리)를 적용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가드레일은 우월성이 아닌 비열등성(non-inferiority)으로 검정 — 배송비 상승 허용 한계 사전 합의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373368" y="36758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클러스터 랜덤화의 대가 (Design Effect)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73368" y="4023360"/>
            <a:ext cx="5285232" cy="512064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537960" y="41605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셀러 단위 ICC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47888" y="413308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0.4285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345168" y="41696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셀러당 평균 22.2건 → DE = 10.09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373368" y="4608576"/>
            <a:ext cx="5285232" cy="512064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0"/>
          <p:cNvSpPr/>
          <p:nvPr/>
        </p:nvSpPr>
        <p:spPr>
          <a:xfrm>
            <a:off x="6537960" y="47457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주(州) 단위 ICC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47888" y="471830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0.0549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345168" y="4754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클러스터 5개뿐 → 랜덤화 불가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373368" y="5193792"/>
            <a:ext cx="5285232" cy="512064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6537960" y="53309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 표본 배수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47888" y="53035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×10.1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345168" y="53400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B의 개별 랜덤화 대비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373368" y="581558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= 1 + (m̄ − 1) × ICC · 셀러 간 출고 성과의 이질성이 매우 커서(ICC 0.43) 표본을 10배로 늘려야 동일 검정력을 얻는다.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66928" y="64190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Delivery Process · Executive Report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DESIGN ·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샘플 사이즈 산출과 실행 기간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1057839" cy="713232"/>
          </a:xfrm>
          <a:prstGeom prst="rect">
            <a:avLst/>
          </a:prstGeom>
          <a:solidFill>
            <a:srgbClr val="E8E8E8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68096" y="14447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연속형 지표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68096" y="166420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2(z₁₋α/₂ + z₁₋β)² σ² / Δ²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81728" y="14447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비율형 지표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81728" y="166420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(z₁₋α/₂ + z₁₋β)² [p₁(1−p₁) + p₂(1−p₂)] / Δ²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19488" y="1426464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300"/>
              </a:lnSpc>
              <a:buNone/>
            </a:pPr>
            <a:r>
              <a:rPr lang="en-US" sz="9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1.960 / 0.842</a:t>
            </a:r>
            <a:endParaRPr lang="en-US" sz="950" dirty="0"/>
          </a:p>
          <a:p>
            <a:pPr marL="0" indent="0" algn="r">
              <a:lnSpc>
                <a:spcPts val="1300"/>
              </a:lnSpc>
              <a:buNone/>
            </a:pPr>
            <a:r>
              <a:rPr lang="en-US" sz="9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클러스터 시 ×DE</a:t>
            </a:r>
            <a:endParaRPr lang="en-US" sz="9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12848"/>
          <a:ext cx="11064240" cy="263347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1차 지표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기준값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arm당 표본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일평균 주문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소요 기간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지역 FC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 소요일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17.17일 (SD 10.89)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828건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(대안) 지연율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3.0%p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2,184건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191일 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셀러 SLA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출고 소요일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2.66일 (SD 3.21)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6,540건 · 셀러 295명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213건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(엄격) 출고 소요일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2.66일 (SD 3.21)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18,168건 · 셀러 818명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213건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171일 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Boleto 자동화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결제 승인시간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31.8h (SD 24.1h)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· 롱테일 관리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지연율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3.0%p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1,689건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(보조) Carrier 소요일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 9.84일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1,521건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66928" y="499262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판단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5285232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C(7일) → D(66일) → B(62일) 순으로 착수. 세 실험은 대상 모집단이 겹치지 않아 병렬 실행 가능하다.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A는 북동부·북부 일평균이 23건에 불과해 지연율을 1차 지표로 쓰면 191일이 필요하다. 민감도가 높은 연속형 지표(배송일수)를 1차로 두고 72일 내 판단할 것.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373368" y="499262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가드레일 기준선</a:t>
            </a:r>
            <a:endParaRPr lang="en-US" sz="1250" dirty="0"/>
          </a:p>
        </p:txBody>
      </p:sp>
      <p:sp>
        <p:nvSpPr>
          <p:cNvPr id="10" name="Text 11"/>
          <p:cNvSpPr/>
          <p:nvPr/>
        </p:nvSpPr>
        <p:spPr>
          <a:xfrm>
            <a:off x="6373368" y="53035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주문당 배송비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705088" y="53035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R$ 23.36 (SD 23.24)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73368" y="55595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평점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705088" y="55595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4.138 (SD 1.308)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373368" y="58155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1–2점 리뷰 비율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705088" y="581558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13.34%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73368" y="61081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평점을 1차 지표로 쓰려면 MDE 0.05점에 arm당 10,747건이 필요 — 가드레일 용도로만 사용할 것.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66928" y="64190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Delivery Process · Executive Report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실행 권고와 로드맵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57839" cy="969264"/>
          </a:xfrm>
          <a:prstGeom prst="rect">
            <a:avLst/>
          </a:prstGeom>
          <a:solidFill>
            <a:srgbClr val="1F1F1F"/>
          </a:solidFill>
          <a:ln w="9525">
            <a:solidFill>
              <a:srgbClr val="3F3F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68096" y="15727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8096" y="1901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0–1개월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67128" y="15544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Boleto 결제승인 자동화 (S4)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67128" y="1865376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C 7일 내 종료. 개발 리스크 최소, 즉시 −0.38일. 조직의 첫 성과로 확보.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450592"/>
            <a:ext cx="11057839" cy="969264"/>
          </a:xfrm>
          <a:prstGeom prst="rect">
            <a:avLst/>
          </a:prstGeom>
          <a:solidFill>
            <a:srgbClr val="171717"/>
          </a:solidFill>
          <a:ln w="9525">
            <a:solidFill>
              <a:srgbClr val="3F3F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68096" y="26334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8096" y="29626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1–3개월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67128" y="261518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롱테일 예외관리 (S2) + 셀러 SLA (S3)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67128" y="2926080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D·B 병렬. 지연 예측 모델(거리·주·계절 3변수로 R² 24%) 기반 플래깅 룰 구축.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511296"/>
            <a:ext cx="11057839" cy="969264"/>
          </a:xfrm>
          <a:prstGeom prst="rect">
            <a:avLst/>
          </a:prstGeom>
          <a:solidFill>
            <a:srgbClr val="171717"/>
          </a:solidFill>
          <a:ln w="9525">
            <a:solidFill>
              <a:srgbClr val="3F3F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68096" y="36941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68096" y="4023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3–6개월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67128" y="36758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전면 롤아웃 및 상시 모니터링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67128" y="39867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 소요일을 핵심 KPI로 승격. 주별 지연율·평점 대시보드 운영.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4572000"/>
            <a:ext cx="11057839" cy="969264"/>
          </a:xfrm>
          <a:prstGeom prst="rect">
            <a:avLst/>
          </a:prstGeom>
          <a:solidFill>
            <a:srgbClr val="171717"/>
          </a:solidFill>
          <a:ln w="9525">
            <a:solidFill>
              <a:srgbClr val="3F3F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68096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8096" y="50840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6개월+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67128" y="47365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FC 투자 판단 (S1)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167128" y="5047488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A 72일 결과 + CAPEX 회수기간 검토 후 결정. 선행 지표는 북동부 지연율 14.4%.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5742432"/>
            <a:ext cx="11057839" cy="0"/>
          </a:xfrm>
          <a:prstGeom prst="line">
            <a:avLst/>
          </a:prstGeom>
          <a:noFill/>
          <a:ln w="12700">
            <a:solidFill>
              <a:srgbClr val="3F3F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66928" y="588873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메시지 — 이것은 '더 빠른 배송'이 아니라 '예측 가능한 배송'의 문제다. 평균 1일 단축보다 최악 10%의 정상화가 평점과 매출에 먼저 반영된다.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66928" y="64190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Delivery Process · Executive Report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분석의 한계와 데이터 품질 이슈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349240" cy="1426464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" y="15179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B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25296" y="1508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인과 추론의 한계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25296" y="1828800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분석은 전량 관측 데이터 기반이다. 거리·지역·계절과 배송시간의 관계는 상관이며, 개입 효과의 크기는 A/B 검증으로만 확정할 수 있다. 시나리오 임팩트는 반사실 추정치로 읽어야 한다.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327648" y="1371600"/>
            <a:ext cx="5349240" cy="1426464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510528" y="15179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B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86016" y="1508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설명되지 않는 75%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86016" y="1828800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회귀 모형의 R²는 0.249다. 운송사 식별자, 허브 처리 이력, 실제 배차 시각, 날씨·파업 등 외생 사건이 데이터에 없어 나머지 변동은 설명되지 않는다.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2944368"/>
            <a:ext cx="5349240" cy="1426464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49808" y="30906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B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25296" y="30815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거리 변수의 근사 오차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25296" y="3401568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우편번호 앞 5자리별 좌표 중위값으로 Haversine 직선거리를 계산했다. 실제 운송 경로가 아니며, 471건은 좌표 미매칭으로 결측 처리했다.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27648" y="2944368"/>
            <a:ext cx="5349240" cy="1426464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510528" y="30906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B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86016" y="30815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타임스탬프 정합성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86016" y="3401568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집하일이 결제승인일보다 빠른 주문 1,350건(1.4%)이 존재한다. 시스템 기록 순서 문제로 판단해 제외했으나, 셀러 사전출고 관행일 가능성도 있어 별도 확인이 필요하다.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4517136"/>
            <a:ext cx="5349240" cy="1426464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49808" y="46634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B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25296" y="46542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효과 미추정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25296" y="4974336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재구매 고객 식별이 어려워 지연→이탈→LTV 손실 경로를 정량화하지 않았다. 보고서의 R$1.25M은 손실 확정액이 아니라 리스크 노출 거래액이다.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27648" y="4517136"/>
            <a:ext cx="5349240" cy="1426464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510528" y="46634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B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86016" y="46542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기간·시장 특수성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86016" y="4974336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2016.09–2018.08 브라질 시장 데이터다. 국토 면적과 물류 인프라가 다른 시장에 계수를 그대로 이전할 수 없다.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" y="607161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출처: Olist Brazilian E-Commerce Public Dataset (9 tables) · 분석 도구: Python (pandas, scipy, scikit-learn) · 산출물 생성: pptxgenjs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6928" y="64190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Delivery Process · Executive Report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3146</Words>
  <Application>Microsoft Office PowerPoint</Application>
  <PresentationFormat>와이드스크린</PresentationFormat>
  <Paragraphs>502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Delivery Process — Executive Report</dc:title>
  <dc:subject>PptxGenJS Presentation</dc:subject>
  <dc:creator>Data Analytics</dc:creator>
  <cp:lastModifiedBy>박준희</cp:lastModifiedBy>
  <cp:revision>1</cp:revision>
  <dcterms:created xsi:type="dcterms:W3CDTF">2026-08-17T07:38:57Z</dcterms:created>
  <dcterms:modified xsi:type="dcterms:W3CDTF">2026-09-08T12:38:40Z</dcterms:modified>
</cp:coreProperties>
</file>