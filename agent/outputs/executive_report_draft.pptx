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10058400" cy="914400"/>
          </a:xfrm>
          <a:prstGeom prst="rect">
            <a:avLst/>
          </a:prstGeom>
          <a:noFill/>
        </p:spPr>
        <p:txBody>
          <a:bodyPr wrap="none">
            <a:spAutoFit/>
          </a:bodyPr>
          <a:lstStyle/>
          <a:p>
            <a:r>
              <a:rPr sz="3600" b="1">
                <a:solidFill>
                  <a:srgbClr val="1A1A1A"/>
                </a:solidFill>
                <a:latin typeface="맑은 고딕"/>
              </a:rPr>
              <a:t>Olist E-Commerce</a:t>
            </a:r>
          </a:p>
        </p:txBody>
      </p:sp>
      <p:sp>
        <p:nvSpPr>
          <p:cNvPr id="3" name="TextBox 2"/>
          <p:cNvSpPr txBox="1"/>
          <p:nvPr/>
        </p:nvSpPr>
        <p:spPr>
          <a:xfrm>
            <a:off x="548640" y="2651760"/>
            <a:ext cx="10058400" cy="914400"/>
          </a:xfrm>
          <a:prstGeom prst="rect">
            <a:avLst/>
          </a:prstGeom>
          <a:noFill/>
        </p:spPr>
        <p:txBody>
          <a:bodyPr wrap="none">
            <a:spAutoFit/>
          </a:bodyPr>
          <a:lstStyle/>
          <a:p>
            <a:r>
              <a:rPr sz="2200" b="0">
                <a:solidFill>
                  <a:srgbClr val="808080"/>
                </a:solidFill>
                <a:latin typeface="맑은 고딕"/>
              </a:rPr>
              <a:t>Delivery Process Bottleneck Analysis &amp; Improvement Strategy</a:t>
            </a:r>
          </a:p>
        </p:txBody>
      </p:sp>
      <p:sp>
        <p:nvSpPr>
          <p:cNvPr id="4" name="TextBox 3"/>
          <p:cNvSpPr txBox="1"/>
          <p:nvPr/>
        </p:nvSpPr>
        <p:spPr>
          <a:xfrm>
            <a:off x="548640" y="3566160"/>
            <a:ext cx="10058400" cy="365760"/>
          </a:xfrm>
          <a:prstGeom prst="rect">
            <a:avLst/>
          </a:prstGeom>
          <a:noFill/>
        </p:spPr>
        <p:txBody>
          <a:bodyPr wrap="none">
            <a:spAutoFit/>
          </a:bodyPr>
          <a:lstStyle/>
          <a:p>
            <a:r>
              <a:rPr sz="1300" b="0">
                <a:solidFill>
                  <a:srgbClr val="808080"/>
                </a:solidFill>
                <a:latin typeface="맑은 고딕"/>
              </a:rPr>
              <a:t>Executive Report | Target: 물류 운영 책임자 및 경영진</a:t>
            </a:r>
          </a:p>
        </p:txBody>
      </p:sp>
      <p:cxnSp>
        <p:nvCxnSpPr>
          <p:cNvPr id="5" name="Connector 4"/>
          <p:cNvCxnSpPr/>
          <p:nvPr/>
        </p:nvCxnSpPr>
        <p:spPr>
          <a:xfrm>
            <a:off x="548640" y="4114800"/>
            <a:ext cx="3566160"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4754880"/>
            <a:ext cx="3291840" cy="914400"/>
          </a:xfrm>
          <a:prstGeom prst="rect">
            <a:avLst/>
          </a:prstGeom>
          <a:noFill/>
        </p:spPr>
        <p:txBody>
          <a:bodyPr wrap="none">
            <a:spAutoFit/>
          </a:bodyPr>
          <a:lstStyle/>
          <a:p>
            <a:r>
              <a:rPr sz="2400" b="1">
                <a:solidFill>
                  <a:srgbClr val="1A1A1A"/>
                </a:solidFill>
                <a:latin typeface="맑은 고딕"/>
              </a:rPr>
              <a:t>95,082 Orders</a:t>
            </a:r>
          </a:p>
          <a:p>
            <a:r>
              <a:rPr sz="1200" b="0">
                <a:solidFill>
                  <a:srgbClr val="808080"/>
                </a:solidFill>
                <a:latin typeface="맑은 고딕"/>
              </a:rPr>
              <a:t>Analyzed</a:t>
            </a:r>
          </a:p>
        </p:txBody>
      </p:sp>
      <p:sp>
        <p:nvSpPr>
          <p:cNvPr id="7" name="TextBox 6"/>
          <p:cNvSpPr txBox="1"/>
          <p:nvPr/>
        </p:nvSpPr>
        <p:spPr>
          <a:xfrm>
            <a:off x="4206240" y="4754880"/>
            <a:ext cx="3291840" cy="914400"/>
          </a:xfrm>
          <a:prstGeom prst="rect">
            <a:avLst/>
          </a:prstGeom>
          <a:noFill/>
        </p:spPr>
        <p:txBody>
          <a:bodyPr wrap="none">
            <a:spAutoFit/>
          </a:bodyPr>
          <a:lstStyle/>
          <a:p>
            <a:r>
              <a:rPr sz="2400" b="1">
                <a:solidFill>
                  <a:srgbClr val="1A1A1A"/>
                </a:solidFill>
                <a:latin typeface="맑은 고딕"/>
              </a:rPr>
              <a:t>8.2%</a:t>
            </a:r>
          </a:p>
          <a:p>
            <a:r>
              <a:rPr sz="1200" b="0">
                <a:solidFill>
                  <a:srgbClr val="808080"/>
                </a:solidFill>
                <a:latin typeface="맑은 고딕"/>
              </a:rPr>
              <a:t>Delay Rate</a:t>
            </a:r>
          </a:p>
        </p:txBody>
      </p:sp>
      <p:sp>
        <p:nvSpPr>
          <p:cNvPr id="8" name="TextBox 7"/>
          <p:cNvSpPr txBox="1"/>
          <p:nvPr/>
        </p:nvSpPr>
        <p:spPr>
          <a:xfrm>
            <a:off x="7863840" y="4754880"/>
            <a:ext cx="3291840" cy="914400"/>
          </a:xfrm>
          <a:prstGeom prst="rect">
            <a:avLst/>
          </a:prstGeom>
          <a:noFill/>
        </p:spPr>
        <p:txBody>
          <a:bodyPr wrap="none">
            <a:spAutoFit/>
          </a:bodyPr>
          <a:lstStyle/>
          <a:p>
            <a:r>
              <a:rPr sz="2400" b="1">
                <a:solidFill>
                  <a:srgbClr val="1A1A1A"/>
                </a:solidFill>
                <a:latin typeface="맑은 고딕"/>
              </a:rPr>
              <a:t>4 Scenarios</a:t>
            </a:r>
          </a:p>
          <a:p>
            <a:r>
              <a:rPr sz="1200" b="0">
                <a:solidFill>
                  <a:srgbClr val="808080"/>
                </a:solidFill>
                <a:latin typeface="맑은 고딕"/>
              </a:rPr>
              <a:t>Recommended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Executive Summary</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645920"/>
            <a:ext cx="2567178" cy="320040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74520"/>
            <a:ext cx="2292858" cy="365760"/>
          </a:xfrm>
          <a:prstGeom prst="rect">
            <a:avLst/>
          </a:prstGeom>
          <a:noFill/>
        </p:spPr>
        <p:txBody>
          <a:bodyPr wrap="none">
            <a:spAutoFit/>
          </a:bodyPr>
          <a:lstStyle/>
          <a:p>
            <a:r>
              <a:rPr sz="1700" b="1">
                <a:solidFill>
                  <a:srgbClr val="808080"/>
                </a:solidFill>
                <a:latin typeface="맑은 고딕"/>
              </a:rPr>
              <a:t>Problem</a:t>
            </a:r>
          </a:p>
        </p:txBody>
      </p:sp>
      <p:sp>
        <p:nvSpPr>
          <p:cNvPr id="7" name="TextBox 6"/>
          <p:cNvSpPr txBox="1"/>
          <p:nvPr/>
        </p:nvSpPr>
        <p:spPr>
          <a:xfrm>
            <a:off x="685800" y="2834640"/>
            <a:ext cx="2292858" cy="1645920"/>
          </a:xfrm>
          <a:prstGeom prst="rect">
            <a:avLst/>
          </a:prstGeom>
          <a:noFill/>
        </p:spPr>
        <p:txBody>
          <a:bodyPr wrap="square">
            <a:spAutoFit/>
          </a:bodyPr>
          <a:lstStyle/>
          <a:p>
            <a:r>
              <a:rPr sz="2600" b="1">
                <a:solidFill>
                  <a:srgbClr val="1A1A1A"/>
                </a:solidFill>
                <a:latin typeface="맑은 고딕"/>
              </a:rPr>
              <a:t>8.2%</a:t>
            </a:r>
          </a:p>
          <a:p>
            <a:pPr>
              <a:spcBef>
                <a:spcPts val="1000"/>
              </a:spcBef>
            </a:pPr>
            <a:r>
              <a:rPr sz="1200" b="0">
                <a:solidFill>
                  <a:srgbClr val="808080"/>
                </a:solidFill>
                <a:latin typeface="맑은 고딕"/>
              </a:rPr>
              <a:t>배송 지연율</a:t>
            </a:r>
          </a:p>
        </p:txBody>
      </p:sp>
      <p:sp>
        <p:nvSpPr>
          <p:cNvPr id="8" name="Rectangle 7"/>
          <p:cNvSpPr/>
          <p:nvPr/>
        </p:nvSpPr>
        <p:spPr>
          <a:xfrm>
            <a:off x="3390138" y="1645920"/>
            <a:ext cx="2567178" cy="320040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7298" y="1874520"/>
            <a:ext cx="2292858" cy="365760"/>
          </a:xfrm>
          <a:prstGeom prst="rect">
            <a:avLst/>
          </a:prstGeom>
          <a:noFill/>
        </p:spPr>
        <p:txBody>
          <a:bodyPr wrap="none">
            <a:spAutoFit/>
          </a:bodyPr>
          <a:lstStyle/>
          <a:p>
            <a:r>
              <a:rPr sz="1700" b="1">
                <a:solidFill>
                  <a:srgbClr val="808080"/>
                </a:solidFill>
                <a:latin typeface="맑은 고딕"/>
              </a:rPr>
              <a:t>Cause</a:t>
            </a:r>
          </a:p>
        </p:txBody>
      </p:sp>
      <p:sp>
        <p:nvSpPr>
          <p:cNvPr id="10" name="TextBox 9"/>
          <p:cNvSpPr txBox="1"/>
          <p:nvPr/>
        </p:nvSpPr>
        <p:spPr>
          <a:xfrm>
            <a:off x="3527298" y="2834640"/>
            <a:ext cx="2292858" cy="1645920"/>
          </a:xfrm>
          <a:prstGeom prst="rect">
            <a:avLst/>
          </a:prstGeom>
          <a:noFill/>
        </p:spPr>
        <p:txBody>
          <a:bodyPr wrap="square">
            <a:spAutoFit/>
          </a:bodyPr>
          <a:lstStyle/>
          <a:p>
            <a:r>
              <a:rPr sz="2600" b="1">
                <a:solidFill>
                  <a:srgbClr val="1A1A1A"/>
                </a:solidFill>
                <a:latin typeface="맑은 고딕"/>
              </a:rPr>
              <a:t>Carrier Delivery</a:t>
            </a:r>
          </a:p>
          <a:p>
            <a:pPr>
              <a:spcBef>
                <a:spcPts val="1000"/>
              </a:spcBef>
            </a:pPr>
            <a:r>
              <a:rPr sz="1200" b="0">
                <a:solidFill>
                  <a:srgbClr val="808080"/>
                </a:solidFill>
                <a:latin typeface="맑은 고딕"/>
              </a:rPr>
              <a:t>핵심 병목 구간</a:t>
            </a:r>
          </a:p>
        </p:txBody>
      </p:sp>
      <p:sp>
        <p:nvSpPr>
          <p:cNvPr id="11" name="Rectangle 10"/>
          <p:cNvSpPr/>
          <p:nvPr/>
        </p:nvSpPr>
        <p:spPr>
          <a:xfrm>
            <a:off x="6231636" y="1645920"/>
            <a:ext cx="2567178" cy="320040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8796" y="1874520"/>
            <a:ext cx="2292858" cy="365760"/>
          </a:xfrm>
          <a:prstGeom prst="rect">
            <a:avLst/>
          </a:prstGeom>
          <a:noFill/>
        </p:spPr>
        <p:txBody>
          <a:bodyPr wrap="none">
            <a:spAutoFit/>
          </a:bodyPr>
          <a:lstStyle/>
          <a:p>
            <a:r>
              <a:rPr sz="1700" b="1">
                <a:solidFill>
                  <a:srgbClr val="808080"/>
                </a:solidFill>
                <a:latin typeface="맑은 고딕"/>
              </a:rPr>
              <a:t>Top Priority</a:t>
            </a:r>
          </a:p>
        </p:txBody>
      </p:sp>
      <p:sp>
        <p:nvSpPr>
          <p:cNvPr id="13" name="TextBox 12"/>
          <p:cNvSpPr txBox="1"/>
          <p:nvPr/>
        </p:nvSpPr>
        <p:spPr>
          <a:xfrm>
            <a:off x="6368796" y="2834640"/>
            <a:ext cx="2292858" cy="1645920"/>
          </a:xfrm>
          <a:prstGeom prst="rect">
            <a:avLst/>
          </a:prstGeom>
          <a:noFill/>
        </p:spPr>
        <p:txBody>
          <a:bodyPr wrap="square">
            <a:spAutoFit/>
          </a:bodyPr>
          <a:lstStyle/>
          <a:p>
            <a:r>
              <a:rPr sz="2600" b="1">
                <a:solidFill>
                  <a:srgbClr val="1A1A1A"/>
                </a:solidFill>
                <a:latin typeface="맑은 고딕"/>
              </a:rPr>
              <a:t>S1</a:t>
            </a:r>
          </a:p>
          <a:p>
            <a:pPr>
              <a:spcBef>
                <a:spcPts val="1000"/>
              </a:spcBef>
            </a:pPr>
            <a:r>
              <a:rPr sz="1200" b="0">
                <a:solidFill>
                  <a:srgbClr val="808080"/>
                </a:solidFill>
                <a:latin typeface="맑은 고딕"/>
              </a:rPr>
              <a:t>RJ Delivery Time Optimization</a:t>
            </a:r>
          </a:p>
        </p:txBody>
      </p:sp>
      <p:sp>
        <p:nvSpPr>
          <p:cNvPr id="14" name="Rectangle 13"/>
          <p:cNvSpPr/>
          <p:nvPr/>
        </p:nvSpPr>
        <p:spPr>
          <a:xfrm>
            <a:off x="9073134" y="1645920"/>
            <a:ext cx="2567178" cy="320040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10294" y="1874520"/>
            <a:ext cx="2292858" cy="365760"/>
          </a:xfrm>
          <a:prstGeom prst="rect">
            <a:avLst/>
          </a:prstGeom>
          <a:noFill/>
        </p:spPr>
        <p:txBody>
          <a:bodyPr wrap="none">
            <a:spAutoFit/>
          </a:bodyPr>
          <a:lstStyle/>
          <a:p>
            <a:r>
              <a:rPr sz="1700" b="1">
                <a:solidFill>
                  <a:srgbClr val="808080"/>
                </a:solidFill>
                <a:latin typeface="맑은 고딕"/>
              </a:rPr>
              <a:t>Effect Size</a:t>
            </a:r>
          </a:p>
        </p:txBody>
      </p:sp>
      <p:sp>
        <p:nvSpPr>
          <p:cNvPr id="16" name="TextBox 15"/>
          <p:cNvSpPr txBox="1"/>
          <p:nvPr/>
        </p:nvSpPr>
        <p:spPr>
          <a:xfrm>
            <a:off x="9210294" y="2834640"/>
            <a:ext cx="2292858" cy="1645920"/>
          </a:xfrm>
          <a:prstGeom prst="rect">
            <a:avLst/>
          </a:prstGeom>
          <a:noFill/>
        </p:spPr>
        <p:txBody>
          <a:bodyPr wrap="square">
            <a:spAutoFit/>
          </a:bodyPr>
          <a:lstStyle/>
          <a:p>
            <a:r>
              <a:rPr sz="2600" b="1">
                <a:solidFill>
                  <a:srgbClr val="1A1A1A"/>
                </a:solidFill>
                <a:latin typeface="맑은 고딕"/>
              </a:rPr>
              <a:t>20.19%</a:t>
            </a:r>
          </a:p>
          <a:p>
            <a:pPr>
              <a:spcBef>
                <a:spcPts val="1000"/>
              </a:spcBef>
            </a:pPr>
            <a:r>
              <a:rPr sz="1200" b="0">
                <a:solidFill>
                  <a:srgbClr val="808080"/>
                </a:solidFill>
                <a:latin typeface="맑은 고딕"/>
              </a:rPr>
              <a:t>1순위 원인 설명력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Business Problem</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3657600" cy="1097280"/>
          </a:xfrm>
          <a:prstGeom prst="rect">
            <a:avLst/>
          </a:prstGeom>
          <a:noFill/>
        </p:spPr>
        <p:txBody>
          <a:bodyPr wrap="none">
            <a:spAutoFit/>
          </a:bodyPr>
          <a:lstStyle/>
          <a:p>
            <a:r>
              <a:rPr sz="4800" b="1">
                <a:solidFill>
                  <a:srgbClr val="1A1A1A"/>
                </a:solidFill>
                <a:latin typeface="맑은 고딕"/>
              </a:rPr>
              <a:t>7,797건</a:t>
            </a:r>
          </a:p>
        </p:txBody>
      </p:sp>
      <p:sp>
        <p:nvSpPr>
          <p:cNvPr id="6" name="TextBox 5"/>
          <p:cNvSpPr txBox="1"/>
          <p:nvPr/>
        </p:nvSpPr>
        <p:spPr>
          <a:xfrm>
            <a:off x="4389120" y="1737360"/>
            <a:ext cx="6858000" cy="365760"/>
          </a:xfrm>
          <a:prstGeom prst="rect">
            <a:avLst/>
          </a:prstGeom>
          <a:noFill/>
        </p:spPr>
        <p:txBody>
          <a:bodyPr wrap="none">
            <a:spAutoFit/>
          </a:bodyPr>
          <a:lstStyle/>
          <a:p>
            <a:r>
              <a:rPr sz="1400" b="0">
                <a:solidFill>
                  <a:srgbClr val="808080"/>
                </a:solidFill>
                <a:latin typeface="맑은 고딕"/>
              </a:rPr>
              <a:t>전체 95,082건 주문 중</a:t>
            </a:r>
          </a:p>
        </p:txBody>
      </p:sp>
      <p:sp>
        <p:nvSpPr>
          <p:cNvPr id="7" name="TextBox 6"/>
          <p:cNvSpPr txBox="1"/>
          <p:nvPr/>
        </p:nvSpPr>
        <p:spPr>
          <a:xfrm>
            <a:off x="4389120" y="2103120"/>
            <a:ext cx="6858000" cy="457200"/>
          </a:xfrm>
          <a:prstGeom prst="rect">
            <a:avLst/>
          </a:prstGeom>
          <a:noFill/>
        </p:spPr>
        <p:txBody>
          <a:bodyPr wrap="none">
            <a:spAutoFit/>
          </a:bodyPr>
          <a:lstStyle/>
          <a:p>
            <a:r>
              <a:rPr sz="1800" b="1">
                <a:solidFill>
                  <a:srgbClr val="1A1A1A"/>
                </a:solidFill>
                <a:latin typeface="맑은 고딕"/>
              </a:rPr>
              <a:t>배송 지연 발생 (지연율 8.2%)</a:t>
            </a:r>
          </a:p>
        </p:txBody>
      </p:sp>
      <p:graphicFrame>
        <p:nvGraphicFramePr>
          <p:cNvPr id="8" name="Table 7"/>
          <p:cNvGraphicFramePr>
            <a:graphicFrameLocks noGrp="1"/>
          </p:cNvGraphicFramePr>
          <p:nvPr/>
        </p:nvGraphicFramePr>
        <p:xfrm>
          <a:off x="548640" y="2926080"/>
          <a:ext cx="11091672" cy="1463040"/>
        </p:xfrm>
        <a:graphic>
          <a:graphicData uri="http://schemas.openxmlformats.org/drawingml/2006/table">
            <a:tbl>
              <a:tblPr>
                <a:tableStyleId>{5C22544A-7EE6-4342-B048-85BDC9FD1C3A}</a:tableStyleId>
              </a:tblPr>
              <a:tblGrid>
                <a:gridCol w="2772918"/>
                <a:gridCol w="2772918"/>
                <a:gridCol w="2772918"/>
                <a:gridCol w="2772918"/>
              </a:tblGrid>
              <a:tr h="365760">
                <a:tc>
                  <a:txBody>
                    <a:bodyPr/>
                    <a:lstStyle/>
                    <a:p>
                      <a:r>
                        <a:rPr sz="1300" b="1">
                          <a:solidFill>
                            <a:srgbClr val="1A1A1A"/>
                          </a:solidFill>
                          <a:latin typeface="맑은 고딕"/>
                        </a:rPr>
                        <a:t>Stage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Delayed (h)</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Normal (h)</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Ratio</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r>
              <a:tr h="365760">
                <a:tc>
                  <a:txBody>
                    <a:bodyPr/>
                    <a:lstStyle/>
                    <a:p>
                      <a:r>
                        <a:rPr sz="1200" b="0">
                          <a:solidFill>
                            <a:srgbClr val="1A1A1A"/>
                          </a:solidFill>
                          <a:latin typeface="맑은 고딕"/>
                        </a:rPr>
                        <a:t>Payment Approval</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12.05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9.44</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1.28x</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Seller Processing</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128.38</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63.09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2.03x</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Carrier Delivery</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616.34</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189.78</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3.25x</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bl>
          </a:graphicData>
        </a:graphic>
      </p:graphicFrame>
      <p:sp>
        <p:nvSpPr>
          <p:cNvPr id="9" name="TextBox 8"/>
          <p:cNvSpPr txBox="1"/>
          <p:nvPr/>
        </p:nvSpPr>
        <p:spPr>
          <a:xfrm>
            <a:off x="548640" y="6309360"/>
            <a:ext cx="10972800" cy="365760"/>
          </a:xfrm>
          <a:prstGeom prst="rect">
            <a:avLst/>
          </a:prstGeom>
          <a:noFill/>
        </p:spPr>
        <p:txBody>
          <a:bodyPr wrap="none">
            <a:spAutoFit/>
          </a:bodyPr>
          <a:lstStyle/>
          <a:p>
            <a:r>
              <a:rPr sz="1000" b="0">
                <a:solidFill>
                  <a:srgbClr val="808080"/>
                </a:solidFill>
                <a:latin typeface="맑은 고딕"/>
              </a:rPr>
              <a:t>Business Risk: 고객 경험 저하 · 브랜드 신뢰도 하락 · 운영 비용 증가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Process Modeling (BPMN)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pic>
        <p:nvPicPr>
          <p:cNvPr id="5" name="Picture 4" descr="bpmn.png"/>
          <p:cNvPicPr>
            <a:picLocks noChangeAspect="1"/>
          </p:cNvPicPr>
          <p:nvPr/>
        </p:nvPicPr>
        <p:blipFill>
          <a:blip r:embed="rId2"/>
          <a:stretch>
            <a:fillRect/>
          </a:stretch>
        </p:blipFill>
        <p:spPr>
          <a:xfrm>
            <a:off x="3538237" y="1645920"/>
            <a:ext cx="5112477" cy="4389120"/>
          </a:xfrm>
          <a:prstGeom prst="rect">
            <a:avLst/>
          </a:prstGeom>
        </p:spPr>
      </p:pic>
      <p:sp>
        <p:nvSpPr>
          <p:cNvPr id="6" name="TextBox 5"/>
          <p:cNvSpPr txBox="1"/>
          <p:nvPr/>
        </p:nvSpPr>
        <p:spPr>
          <a:xfrm>
            <a:off x="548640" y="6309360"/>
            <a:ext cx="10972800" cy="365760"/>
          </a:xfrm>
          <a:prstGeom prst="rect">
            <a:avLst/>
          </a:prstGeom>
          <a:noFill/>
        </p:spPr>
        <p:txBody>
          <a:bodyPr wrap="none">
            <a:spAutoFit/>
          </a:bodyPr>
          <a:lstStyle/>
          <a:p>
            <a:r>
              <a:rPr sz="1000" b="0">
                <a:solidFill>
                  <a:srgbClr val="808080"/>
                </a:solidFill>
                <a:latin typeface="맑은 고딕"/>
              </a:rPr>
              <a:t>각 구간별 병목 발생 가능성을 가설로 설정 → Bottleneck Detection으로 검증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Bottleneck Detection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457200"/>
          </a:xfrm>
          <a:prstGeom prst="rect">
            <a:avLst/>
          </a:prstGeom>
          <a:noFill/>
        </p:spPr>
        <p:txBody>
          <a:bodyPr wrap="none">
            <a:spAutoFit/>
          </a:bodyPr>
          <a:lstStyle/>
          <a:p>
            <a:r>
              <a:rPr sz="1600" b="1">
                <a:solidFill>
                  <a:srgbClr val="1A1A1A"/>
                </a:solidFill>
                <a:latin typeface="맑은 고딕"/>
              </a:rPr>
              <a:t>Carrier Delivery 74.21% of Total Lead Time | 지연 주문에서 3.25배 증가</a:t>
            </a:r>
          </a:p>
        </p:txBody>
      </p:sp>
      <p:sp>
        <p:nvSpPr>
          <p:cNvPr id="6" name="Rectangle 5"/>
          <p:cNvSpPr/>
          <p:nvPr/>
        </p:nvSpPr>
        <p:spPr>
          <a:xfrm>
            <a:off x="548640" y="2194560"/>
            <a:ext cx="3514344" cy="100584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r>
              <a:rPr sz="2200" b="1">
                <a:solidFill>
                  <a:srgbClr val="1A1A1A"/>
                </a:solidFill>
                <a:latin typeface="맑은 고딕"/>
              </a:rPr>
              <a:t>74.21%</a:t>
            </a:r>
          </a:p>
          <a:p>
            <a:r>
              <a:rPr sz="1100" b="0">
                <a:solidFill>
                  <a:srgbClr val="808080"/>
                </a:solidFill>
                <a:latin typeface="맑은 고딕"/>
              </a:rPr>
              <a:t>Carrier Delivery · avg 224.74h</a:t>
            </a:r>
          </a:p>
        </p:txBody>
      </p:sp>
      <p:sp>
        <p:nvSpPr>
          <p:cNvPr id="7" name="Rectangle 6"/>
          <p:cNvSpPr/>
          <p:nvPr/>
        </p:nvSpPr>
        <p:spPr>
          <a:xfrm>
            <a:off x="4337304" y="2194560"/>
            <a:ext cx="3514344" cy="100584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r>
              <a:rPr sz="2200" b="1">
                <a:solidFill>
                  <a:srgbClr val="1A1A1A"/>
                </a:solidFill>
                <a:latin typeface="맑은 고딕"/>
              </a:rPr>
              <a:t>22.6%</a:t>
            </a:r>
          </a:p>
          <a:p>
            <a:r>
              <a:rPr sz="1100" b="0">
                <a:solidFill>
                  <a:srgbClr val="808080"/>
                </a:solidFill>
                <a:latin typeface="맑은 고딕"/>
              </a:rPr>
              <a:t>Seller Processing · avg 68.44h</a:t>
            </a:r>
          </a:p>
        </p:txBody>
      </p:sp>
      <p:sp>
        <p:nvSpPr>
          <p:cNvPr id="8" name="Rectangle 7"/>
          <p:cNvSpPr/>
          <p:nvPr/>
        </p:nvSpPr>
        <p:spPr>
          <a:xfrm>
            <a:off x="8125968" y="2194560"/>
            <a:ext cx="3514344" cy="100584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r>
              <a:rPr sz="2200" b="1">
                <a:solidFill>
                  <a:srgbClr val="1A1A1A"/>
                </a:solidFill>
                <a:latin typeface="맑은 고딕"/>
              </a:rPr>
              <a:t>3.19%</a:t>
            </a:r>
          </a:p>
          <a:p>
            <a:r>
              <a:rPr sz="1100" b="0">
                <a:solidFill>
                  <a:srgbClr val="808080"/>
                </a:solidFill>
                <a:latin typeface="맑은 고딕"/>
              </a:rPr>
              <a:t>Payment Approval · avg 9.65h</a:t>
            </a:r>
          </a:p>
        </p:txBody>
      </p:sp>
      <p:pic>
        <p:nvPicPr>
          <p:cNvPr id="9" name="Picture 8" descr="stage_time_chart.png"/>
          <p:cNvPicPr>
            <a:picLocks noChangeAspect="1"/>
          </p:cNvPicPr>
          <p:nvPr/>
        </p:nvPicPr>
        <p:blipFill>
          <a:blip r:embed="rId2"/>
          <a:stretch>
            <a:fillRect/>
          </a:stretch>
        </p:blipFill>
        <p:spPr>
          <a:xfrm>
            <a:off x="912114" y="3566160"/>
            <a:ext cx="4681728" cy="2926080"/>
          </a:xfrm>
          <a:prstGeom prst="rect">
            <a:avLst/>
          </a:prstGeom>
        </p:spPr>
      </p:pic>
      <p:pic>
        <p:nvPicPr>
          <p:cNvPr id="10" name="Picture 9" descr="delayed_vs_normal.png"/>
          <p:cNvPicPr>
            <a:picLocks noChangeAspect="1"/>
          </p:cNvPicPr>
          <p:nvPr/>
        </p:nvPicPr>
        <p:blipFill>
          <a:blip r:embed="rId3"/>
          <a:stretch>
            <a:fillRect/>
          </a:stretch>
        </p:blipFill>
        <p:spPr>
          <a:xfrm>
            <a:off x="6595110" y="3566160"/>
            <a:ext cx="4681728" cy="29260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Root Cause Analysis — Carrier Delivery</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365760"/>
          </a:xfrm>
          <a:prstGeom prst="rect">
            <a:avLst/>
          </a:prstGeom>
          <a:noFill/>
        </p:spPr>
        <p:txBody>
          <a:bodyPr wrap="none">
            <a:spAutoFit/>
          </a:bodyPr>
          <a:lstStyle/>
          <a:p>
            <a:r>
              <a:rPr sz="1400" b="0">
                <a:solidFill>
                  <a:srgbClr val="808080"/>
                </a:solidFill>
                <a:latin typeface="맑은 고딕"/>
              </a:rPr>
              <a:t>1st Bottleneck | Lead Time 74.21%</a:t>
            </a:r>
          </a:p>
        </p:txBody>
      </p:sp>
      <p:pic>
        <p:nvPicPr>
          <p:cNvPr id="6" name="Picture 5" descr="effect_size_carrier_delivery.png"/>
          <p:cNvPicPr>
            <a:picLocks noChangeAspect="1"/>
          </p:cNvPicPr>
          <p:nvPr/>
        </p:nvPicPr>
        <p:blipFill>
          <a:blip r:embed="rId2"/>
          <a:stretch>
            <a:fillRect/>
          </a:stretch>
        </p:blipFill>
        <p:spPr>
          <a:xfrm>
            <a:off x="548640" y="2103120"/>
            <a:ext cx="6400800" cy="3200400"/>
          </a:xfrm>
          <a:prstGeom prst="rect">
            <a:avLst/>
          </a:prstGeom>
        </p:spPr>
      </p:pic>
      <p:sp>
        <p:nvSpPr>
          <p:cNvPr id="7" name="Rectangle 6"/>
          <p:cNvSpPr/>
          <p:nvPr/>
        </p:nvSpPr>
        <p:spPr>
          <a:xfrm>
            <a:off x="7498079" y="2103120"/>
            <a:ext cx="4142233" cy="18745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400" b="1">
                <a:solidFill>
                  <a:srgbClr val="1A1A1A"/>
                </a:solidFill>
                <a:latin typeface="맑은 고딕"/>
              </a:rPr>
              <a:t>Geography</a:t>
            </a:r>
          </a:p>
          <a:p>
            <a:r>
              <a:rPr sz="1800" b="1">
                <a:solidFill>
                  <a:srgbClr val="808080"/>
                </a:solidFill>
                <a:latin typeface="맑은 고딕"/>
              </a:rPr>
              <a:t>η²=20.19%</a:t>
            </a:r>
          </a:p>
          <a:p>
            <a:r>
              <a:rPr sz="1000" b="0">
                <a:solidFill>
                  <a:srgbClr val="808080"/>
                </a:solidFill>
                <a:latin typeface="맑은 고딕"/>
              </a:rPr>
              <a:t>Customer state strongly affects carrier delivery time due to differences in distance, regional infrastructure, and last-mile logistics complexity across states.</a:t>
            </a:r>
          </a:p>
        </p:txBody>
      </p:sp>
      <p:sp>
        <p:nvSpPr>
          <p:cNvPr id="8" name="Rectangle 7"/>
          <p:cNvSpPr/>
          <p:nvPr/>
        </p:nvSpPr>
        <p:spPr>
          <a:xfrm>
            <a:off x="7498079" y="4160520"/>
            <a:ext cx="4142233" cy="18745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400" b="1">
                <a:solidFill>
                  <a:srgbClr val="1A1A1A"/>
                </a:solidFill>
                <a:latin typeface="맑은 고딕"/>
              </a:rPr>
              <a:t>Seasonality</a:t>
            </a:r>
          </a:p>
          <a:p>
            <a:r>
              <a:rPr sz="1800" b="1">
                <a:solidFill>
                  <a:srgbClr val="808080"/>
                </a:solidFill>
                <a:latin typeface="맑은 고딕"/>
              </a:rPr>
              <a:t>η²=5.77%</a:t>
            </a:r>
          </a:p>
          <a:p>
            <a:r>
              <a:rPr sz="1000" b="0">
                <a:solidFill>
                  <a:srgbClr val="808080"/>
                </a:solidFill>
                <a:latin typeface="맑은 고딕"/>
              </a:rPr>
              <a:t>The month of carrier handling introduces variability from seasonal demand spikes, holiday congestion, and weather-related disruptions.</a:t>
            </a:r>
          </a:p>
        </p:txBody>
      </p:sp>
      <p:sp>
        <p:nvSpPr>
          <p:cNvPr id="9" name="TextBox 8"/>
          <p:cNvSpPr txBox="1"/>
          <p:nvPr/>
        </p:nvSpPr>
        <p:spPr>
          <a:xfrm>
            <a:off x="548640" y="6035040"/>
            <a:ext cx="11064240" cy="731520"/>
          </a:xfrm>
          <a:prstGeom prst="rect">
            <a:avLst/>
          </a:prstGeom>
          <a:noFill/>
        </p:spPr>
        <p:txBody>
          <a:bodyPr wrap="square">
            <a:spAutoFit/>
          </a:bodyPr>
          <a:lstStyle/>
          <a:p>
            <a:r>
              <a:rPr sz="1200" b="1">
                <a:solidFill>
                  <a:srgbClr val="1A1A1A"/>
                </a:solidFill>
                <a:latin typeface="맑은 고딕"/>
              </a:rPr>
              <a:t>Carrier delivery delays are primarily driven by geographic factors, as customer state accounts for the largest share of variance, reflecting disparities in regional infrastructure and distance from distribution hubs. Seasonal timing of carrier operations also contributes meaningfully, likely due to demand fluctuations and periodic operational strain.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Root Cause Analysis — Seller Processing</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365760"/>
          </a:xfrm>
          <a:prstGeom prst="rect">
            <a:avLst/>
          </a:prstGeom>
          <a:noFill/>
        </p:spPr>
        <p:txBody>
          <a:bodyPr wrap="none">
            <a:spAutoFit/>
          </a:bodyPr>
          <a:lstStyle/>
          <a:p>
            <a:r>
              <a:rPr sz="1400" b="0">
                <a:solidFill>
                  <a:srgbClr val="808080"/>
                </a:solidFill>
                <a:latin typeface="맑은 고딕"/>
              </a:rPr>
              <a:t>2nd Bottleneck | Lead Time 22.6%</a:t>
            </a:r>
          </a:p>
        </p:txBody>
      </p:sp>
      <p:pic>
        <p:nvPicPr>
          <p:cNvPr id="6" name="Picture 5" descr="effect_size_seller_processing.png"/>
          <p:cNvPicPr>
            <a:picLocks noChangeAspect="1"/>
          </p:cNvPicPr>
          <p:nvPr/>
        </p:nvPicPr>
        <p:blipFill>
          <a:blip r:embed="rId2"/>
          <a:stretch>
            <a:fillRect/>
          </a:stretch>
        </p:blipFill>
        <p:spPr>
          <a:xfrm>
            <a:off x="548640" y="2103120"/>
            <a:ext cx="6400800" cy="3200400"/>
          </a:xfrm>
          <a:prstGeom prst="rect">
            <a:avLst/>
          </a:prstGeom>
        </p:spPr>
      </p:pic>
      <p:sp>
        <p:nvSpPr>
          <p:cNvPr id="7" name="Rectangle 6"/>
          <p:cNvSpPr/>
          <p:nvPr/>
        </p:nvSpPr>
        <p:spPr>
          <a:xfrm>
            <a:off x="7498079" y="2103120"/>
            <a:ext cx="4142233"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200" b="1">
                <a:solidFill>
                  <a:srgbClr val="1A1A1A"/>
                </a:solidFill>
                <a:latin typeface="맑은 고딕"/>
              </a:rPr>
              <a:t>Product Category</a:t>
            </a:r>
          </a:p>
          <a:p>
            <a:r>
              <a:rPr sz="1500" b="1">
                <a:solidFill>
                  <a:srgbClr val="808080"/>
                </a:solidFill>
                <a:latin typeface="맑은 고딕"/>
              </a:rPr>
              <a:t>η²=8.35%</a:t>
            </a:r>
          </a:p>
          <a:p>
            <a:r>
              <a:rPr sz="900" b="0">
                <a:solidFill>
                  <a:srgbClr val="808080"/>
                </a:solidFill>
                <a:latin typeface="맑은 고딕"/>
              </a:rPr>
              <a:t>Different product categories require varying handling, sourcing, and preparation processes, causing significant variation in seller processing time.</a:t>
            </a:r>
          </a:p>
        </p:txBody>
      </p:sp>
      <p:sp>
        <p:nvSpPr>
          <p:cNvPr id="8" name="Rectangle 7"/>
          <p:cNvSpPr/>
          <p:nvPr/>
        </p:nvSpPr>
        <p:spPr>
          <a:xfrm>
            <a:off x="7498079" y="3474720"/>
            <a:ext cx="4142233"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200" b="1">
                <a:solidFill>
                  <a:srgbClr val="1A1A1A"/>
                </a:solidFill>
                <a:latin typeface="맑은 고딕"/>
              </a:rPr>
              <a:t>Seasonality/Timing</a:t>
            </a:r>
          </a:p>
          <a:p>
            <a:r>
              <a:rPr sz="1500" b="1">
                <a:solidFill>
                  <a:srgbClr val="808080"/>
                </a:solidFill>
                <a:latin typeface="맑은 고딕"/>
              </a:rPr>
              <a:t>η²=2.45%</a:t>
            </a:r>
          </a:p>
          <a:p>
            <a:r>
              <a:rPr sz="900" b="0">
                <a:solidFill>
                  <a:srgbClr val="808080"/>
                </a:solidFill>
                <a:latin typeface="맑은 고딕"/>
              </a:rPr>
              <a:t>The day of the week an order is placed affects seller processing speed due to staffing levels and warehouse operation schedules.</a:t>
            </a:r>
          </a:p>
        </p:txBody>
      </p:sp>
      <p:sp>
        <p:nvSpPr>
          <p:cNvPr id="9" name="Rectangle 8"/>
          <p:cNvSpPr/>
          <p:nvPr/>
        </p:nvSpPr>
        <p:spPr>
          <a:xfrm>
            <a:off x="7498079" y="4846320"/>
            <a:ext cx="4142233"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200" b="1">
                <a:solidFill>
                  <a:srgbClr val="1A1A1A"/>
                </a:solidFill>
                <a:latin typeface="맑은 고딕"/>
              </a:rPr>
              <a:t>Physical Characteristics</a:t>
            </a:r>
          </a:p>
          <a:p>
            <a:r>
              <a:rPr sz="1500" b="1">
                <a:solidFill>
                  <a:srgbClr val="808080"/>
                </a:solidFill>
                <a:latin typeface="맑은 고딕"/>
              </a:rPr>
              <a:t>η²=2.27%</a:t>
            </a:r>
          </a:p>
          <a:p>
            <a:r>
              <a:rPr sz="900" b="0">
                <a:solidFill>
                  <a:srgbClr val="808080"/>
                </a:solidFill>
                <a:latin typeface="맑은 고딕"/>
              </a:rPr>
              <a:t>Heavier products often require more complex packing and handling procedures, which can slow down seller processing time.</a:t>
            </a:r>
          </a:p>
        </p:txBody>
      </p:sp>
      <p:sp>
        <p:nvSpPr>
          <p:cNvPr id="10" name="TextBox 9"/>
          <p:cNvSpPr txBox="1"/>
          <p:nvPr/>
        </p:nvSpPr>
        <p:spPr>
          <a:xfrm>
            <a:off x="548640" y="6035040"/>
            <a:ext cx="11064240" cy="731520"/>
          </a:xfrm>
          <a:prstGeom prst="rect">
            <a:avLst/>
          </a:prstGeom>
          <a:noFill/>
        </p:spPr>
        <p:txBody>
          <a:bodyPr wrap="square">
            <a:spAutoFit/>
          </a:bodyPr>
          <a:lstStyle/>
          <a:p>
            <a:r>
              <a:rPr sz="1200" b="1">
                <a:solidFill>
                  <a:srgbClr val="1A1A1A"/>
                </a:solidFill>
                <a:latin typeface="맑은 고딕"/>
              </a:rPr>
              <a:t>The seller processing delay is primarily driven by product category differences, which account for the largest share of variance, reflecting diverse handling and sourcing complexity across product types. Timing factors such as day of week and physical product characteristics like weight also contribute, though to a lesser extent, indicating operational scheduling and packaging logistics play secondary roles.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Cause-Effect Diagrams</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pic>
        <p:nvPicPr>
          <p:cNvPr id="5" name="Picture 4" descr="cause_effect_diagram_carrier_delivery.png"/>
          <p:cNvPicPr>
            <a:picLocks noChangeAspect="1"/>
          </p:cNvPicPr>
          <p:nvPr/>
        </p:nvPicPr>
        <p:blipFill>
          <a:blip r:embed="rId2"/>
          <a:stretch>
            <a:fillRect/>
          </a:stretch>
        </p:blipFill>
        <p:spPr>
          <a:xfrm>
            <a:off x="548640" y="1645920"/>
            <a:ext cx="5408676" cy="1254314"/>
          </a:xfrm>
          <a:prstGeom prst="rect">
            <a:avLst/>
          </a:prstGeom>
        </p:spPr>
      </p:pic>
      <p:sp>
        <p:nvSpPr>
          <p:cNvPr id="6" name="TextBox 5"/>
          <p:cNvSpPr txBox="1"/>
          <p:nvPr/>
        </p:nvSpPr>
        <p:spPr>
          <a:xfrm>
            <a:off x="548640" y="6126480"/>
            <a:ext cx="5408676" cy="274320"/>
          </a:xfrm>
          <a:prstGeom prst="rect">
            <a:avLst/>
          </a:prstGeom>
          <a:noFill/>
        </p:spPr>
        <p:txBody>
          <a:bodyPr wrap="none">
            <a:spAutoFit/>
          </a:bodyPr>
          <a:lstStyle/>
          <a:p>
            <a:pPr algn="ctr"/>
            <a:r>
              <a:rPr sz="1600" b="0">
                <a:solidFill>
                  <a:srgbClr val="808080"/>
                </a:solidFill>
                <a:latin typeface="맑은 고딕"/>
              </a:rPr>
              <a:t>Carrier Delivery</a:t>
            </a:r>
          </a:p>
        </p:txBody>
      </p:sp>
      <p:pic>
        <p:nvPicPr>
          <p:cNvPr id="7" name="Picture 6" descr="cause_effect_diagram_seller_processing.png"/>
          <p:cNvPicPr>
            <a:picLocks noChangeAspect="1"/>
          </p:cNvPicPr>
          <p:nvPr/>
        </p:nvPicPr>
        <p:blipFill>
          <a:blip r:embed="rId3"/>
          <a:stretch>
            <a:fillRect/>
          </a:stretch>
        </p:blipFill>
        <p:spPr>
          <a:xfrm>
            <a:off x="6231636" y="1645920"/>
            <a:ext cx="5408676" cy="1591216"/>
          </a:xfrm>
          <a:prstGeom prst="rect">
            <a:avLst/>
          </a:prstGeom>
        </p:spPr>
      </p:pic>
      <p:sp>
        <p:nvSpPr>
          <p:cNvPr id="8" name="TextBox 7"/>
          <p:cNvSpPr txBox="1"/>
          <p:nvPr/>
        </p:nvSpPr>
        <p:spPr>
          <a:xfrm>
            <a:off x="6231636" y="6126480"/>
            <a:ext cx="5408676" cy="274320"/>
          </a:xfrm>
          <a:prstGeom prst="rect">
            <a:avLst/>
          </a:prstGeom>
          <a:noFill/>
        </p:spPr>
        <p:txBody>
          <a:bodyPr wrap="none">
            <a:spAutoFit/>
          </a:bodyPr>
          <a:lstStyle/>
          <a:p>
            <a:pPr algn="ctr"/>
            <a:r>
              <a:rPr sz="1600" b="0">
                <a:solidFill>
                  <a:srgbClr val="808080"/>
                </a:solidFill>
                <a:latin typeface="맑은 고딕"/>
              </a:rPr>
              <a:t>Seller Processing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Business Impact Simulation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365760"/>
          </a:xfrm>
          <a:prstGeom prst="rect">
            <a:avLst/>
          </a:prstGeom>
          <a:noFill/>
        </p:spPr>
        <p:txBody>
          <a:bodyPr wrap="none">
            <a:spAutoFit/>
          </a:bodyPr>
          <a:lstStyle/>
          <a:p>
            <a:r>
              <a:rPr sz="1400" b="0">
                <a:solidFill>
                  <a:srgbClr val="808080"/>
                </a:solidFill>
                <a:latin typeface="맑은 고딕"/>
              </a:rPr>
              <a:t>전체 후보 — Effect Size + Impact Score</a:t>
            </a:r>
          </a:p>
        </p:txBody>
      </p:sp>
      <p:graphicFrame>
        <p:nvGraphicFramePr>
          <p:cNvPr id="6" name="Table 5"/>
          <p:cNvGraphicFramePr>
            <a:graphicFrameLocks noGrp="1"/>
          </p:cNvGraphicFramePr>
          <p:nvPr/>
        </p:nvGraphicFramePr>
        <p:xfrm>
          <a:off x="548640" y="2103120"/>
          <a:ext cx="11091672" cy="2560320"/>
        </p:xfrm>
        <a:graphic>
          <a:graphicData uri="http://schemas.openxmlformats.org/drawingml/2006/table">
            <a:tbl>
              <a:tblPr>
                <a:tableStyleId>{5C22544A-7EE6-4342-B048-85BDC9FD1C3A}</a:tableStyleId>
              </a:tblPr>
              <a:tblGrid>
                <a:gridCol w="3697224"/>
                <a:gridCol w="3697224"/>
                <a:gridCol w="3697224"/>
              </a:tblGrid>
              <a:tr h="365760">
                <a:tc>
                  <a:txBody>
                    <a:bodyPr/>
                    <a:lstStyle/>
                    <a:p>
                      <a:r>
                        <a:rPr sz="1300" b="1">
                          <a:solidFill>
                            <a:srgbClr val="1A1A1A"/>
                          </a:solidFill>
                          <a:latin typeface="맑은 고딕"/>
                        </a:rPr>
                        <a:t>Scenario</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Effect Size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Impact Score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r>
              <a:tr h="365760">
                <a:tc>
                  <a:txBody>
                    <a:bodyPr/>
                    <a:lstStyle/>
                    <a:p>
                      <a:r>
                        <a:rPr sz="1200" b="0">
                          <a:solidFill>
                            <a:srgbClr val="1A1A1A"/>
                          </a:solidFill>
                          <a:latin typeface="맑은 고딕"/>
                        </a:rPr>
                        <a:t>customer_state=RJ</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20.19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788,027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carrier_month=3.0</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740,331</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carrier_month=2.0</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571,326</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customer_state=BA</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20.19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515,586</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carrier_month=12.0</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380,005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customer_state=RS</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20.19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349,653</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bl>
          </a:graphicData>
        </a:graphic>
      </p:graphicFrame>
      <p:sp>
        <p:nvSpPr>
          <p:cNvPr id="7" name="TextBox 6"/>
          <p:cNvSpPr txBox="1"/>
          <p:nvPr/>
        </p:nvSpPr>
        <p:spPr>
          <a:xfrm>
            <a:off x="548640" y="6309360"/>
            <a:ext cx="10972800" cy="457200"/>
          </a:xfrm>
          <a:prstGeom prst="rect">
            <a:avLst/>
          </a:prstGeom>
          <a:noFill/>
        </p:spPr>
        <p:txBody>
          <a:bodyPr wrap="none">
            <a:spAutoFit/>
          </a:bodyPr>
          <a:lstStyle/>
          <a:p>
            <a:r>
              <a:rPr sz="1300" b="1">
                <a:solidFill>
                  <a:srgbClr val="1A1A1A"/>
                </a:solidFill>
                <a:latin typeface="맑은 고딕"/>
              </a:rPr>
              <a:t>Root Cause의 설명력(Effect Size)과 Business Impact(Impact Score)는 다를 수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Recommended Scenarios</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45920"/>
          <a:ext cx="11091672" cy="1828800"/>
        </p:xfrm>
        <a:graphic>
          <a:graphicData uri="http://schemas.openxmlformats.org/drawingml/2006/table">
            <a:tbl>
              <a:tblPr>
                <a:tableStyleId>{5C22544A-7EE6-4342-B048-85BDC9FD1C3A}</a:tableStyleId>
              </a:tblPr>
              <a:tblGrid>
                <a:gridCol w="2772918"/>
                <a:gridCol w="2772918"/>
                <a:gridCol w="2772918"/>
                <a:gridCol w="2772918"/>
              </a:tblGrid>
              <a:tr h="365760">
                <a:tc>
                  <a:txBody>
                    <a:bodyPr/>
                    <a:lstStyle/>
                    <a:p>
                      <a:r>
                        <a:rPr sz="1300" b="1">
                          <a:solidFill>
                            <a:srgbClr val="1A1A1A"/>
                          </a:solidFill>
                          <a:latin typeface="맑은 고딕"/>
                        </a:rPr>
                        <a:t>ID</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Title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Effect Size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Impact Score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r>
              <a:tr h="365760">
                <a:tc>
                  <a:txBody>
                    <a:bodyPr/>
                    <a:lstStyle/>
                    <a:p>
                      <a:r>
                        <a:rPr sz="1200" b="0">
                          <a:solidFill>
                            <a:srgbClr val="1A1A1A"/>
                          </a:solidFill>
                          <a:latin typeface="맑은 고딕"/>
                        </a:rPr>
                        <a:t>S1</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RJ Delivery Time Optimization</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20.19%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788,027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S2</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Office Furniture Processing Time Improvement</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8.35%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295,903</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S3</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Carnival Season Delivery Delay Mitigation</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1,311,657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S4</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Pre-Weekend Seller Processing Delay Reduction</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2.45%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519,915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A/B Test Design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365760"/>
          </a:xfrm>
          <a:prstGeom prst="rect">
            <a:avLst/>
          </a:prstGeom>
          <a:noFill/>
        </p:spPr>
        <p:txBody>
          <a:bodyPr wrap="none">
            <a:spAutoFit/>
          </a:bodyPr>
          <a:lstStyle/>
          <a:p>
            <a:r>
              <a:rPr sz="1600" b="1">
                <a:solidFill>
                  <a:srgbClr val="1A1A1A"/>
                </a:solidFill>
                <a:latin typeface="맑은 고딕"/>
              </a:rPr>
              <a:t>S1: RJ Delivery Time Optimization</a:t>
            </a:r>
          </a:p>
        </p:txBody>
      </p:sp>
      <p:sp>
        <p:nvSpPr>
          <p:cNvPr id="6" name="TextBox 5"/>
          <p:cNvSpPr txBox="1"/>
          <p:nvPr/>
        </p:nvSpPr>
        <p:spPr>
          <a:xfrm>
            <a:off x="548640" y="2194560"/>
            <a:ext cx="5303520" cy="640080"/>
          </a:xfrm>
          <a:prstGeom prst="rect">
            <a:avLst/>
          </a:prstGeom>
          <a:noFill/>
        </p:spPr>
        <p:txBody>
          <a:bodyPr wrap="square">
            <a:spAutoFit/>
          </a:bodyPr>
          <a:lstStyle/>
          <a:p>
            <a:r>
              <a:rPr sz="1200" b="1">
                <a:solidFill>
                  <a:srgbClr val="808080"/>
                </a:solidFill>
                <a:latin typeface="맑은 고딕"/>
              </a:rPr>
              <a:t>Primary Metric</a:t>
            </a:r>
          </a:p>
          <a:p>
            <a:r>
              <a:rPr sz="1500" b="1">
                <a:solidFill>
                  <a:srgbClr val="1A1A1A"/>
                </a:solidFill>
                <a:latin typeface="맑은 고딕"/>
              </a:rPr>
              <a:t>Delivery Delay Rate (%)</a:t>
            </a:r>
          </a:p>
        </p:txBody>
      </p:sp>
      <p:sp>
        <p:nvSpPr>
          <p:cNvPr id="7" name="TextBox 6"/>
          <p:cNvSpPr txBox="1"/>
          <p:nvPr/>
        </p:nvSpPr>
        <p:spPr>
          <a:xfrm>
            <a:off x="548640" y="2880360"/>
            <a:ext cx="5303520" cy="640080"/>
          </a:xfrm>
          <a:prstGeom prst="rect">
            <a:avLst/>
          </a:prstGeom>
          <a:noFill/>
        </p:spPr>
        <p:txBody>
          <a:bodyPr wrap="square">
            <a:spAutoFit/>
          </a:bodyPr>
          <a:lstStyle/>
          <a:p>
            <a:r>
              <a:rPr sz="1200" b="1">
                <a:solidFill>
                  <a:srgbClr val="808080"/>
                </a:solidFill>
                <a:latin typeface="맑은 고딕"/>
              </a:rPr>
              <a:t>Baseline</a:t>
            </a:r>
          </a:p>
          <a:p>
            <a:r>
              <a:rPr sz="1500" b="1">
                <a:solidFill>
                  <a:srgbClr val="1A1A1A"/>
                </a:solidFill>
                <a:latin typeface="맑은 고딕"/>
              </a:rPr>
              <a:t>13.6% (RJ 기준)</a:t>
            </a:r>
          </a:p>
        </p:txBody>
      </p:sp>
      <p:sp>
        <p:nvSpPr>
          <p:cNvPr id="8" name="TextBox 7"/>
          <p:cNvSpPr txBox="1"/>
          <p:nvPr/>
        </p:nvSpPr>
        <p:spPr>
          <a:xfrm>
            <a:off x="548640" y="3566160"/>
            <a:ext cx="5303520" cy="640080"/>
          </a:xfrm>
          <a:prstGeom prst="rect">
            <a:avLst/>
          </a:prstGeom>
          <a:noFill/>
        </p:spPr>
        <p:txBody>
          <a:bodyPr wrap="square">
            <a:spAutoFit/>
          </a:bodyPr>
          <a:lstStyle/>
          <a:p>
            <a:r>
              <a:rPr sz="1200" b="1">
                <a:solidFill>
                  <a:srgbClr val="808080"/>
                </a:solidFill>
                <a:latin typeface="맑은 고딕"/>
              </a:rPr>
              <a:t>MDE</a:t>
            </a:r>
          </a:p>
          <a:p>
            <a:r>
              <a:rPr sz="1500" b="1">
                <a:solidFill>
                  <a:srgbClr val="1A1A1A"/>
                </a:solidFill>
                <a:latin typeface="맑은 고딕"/>
              </a:rPr>
              <a:t>1.0%p → Target 12.6%</a:t>
            </a:r>
          </a:p>
        </p:txBody>
      </p:sp>
      <p:sp>
        <p:nvSpPr>
          <p:cNvPr id="9" name="TextBox 8"/>
          <p:cNvSpPr txBox="1"/>
          <p:nvPr/>
        </p:nvSpPr>
        <p:spPr>
          <a:xfrm>
            <a:off x="548640" y="4251960"/>
            <a:ext cx="5303520" cy="640080"/>
          </a:xfrm>
          <a:prstGeom prst="rect">
            <a:avLst/>
          </a:prstGeom>
          <a:noFill/>
        </p:spPr>
        <p:txBody>
          <a:bodyPr wrap="square">
            <a:spAutoFit/>
          </a:bodyPr>
          <a:lstStyle/>
          <a:p>
            <a:r>
              <a:rPr sz="1200" b="1">
                <a:solidFill>
                  <a:srgbClr val="808080"/>
                </a:solidFill>
                <a:latin typeface="맑은 고딕"/>
              </a:rPr>
              <a:t>Alpha / Power</a:t>
            </a:r>
          </a:p>
          <a:p>
            <a:r>
              <a:rPr sz="1500" b="1">
                <a:solidFill>
                  <a:srgbClr val="1A1A1A"/>
                </a:solidFill>
                <a:latin typeface="맑은 고딕"/>
              </a:rPr>
              <a:t>α=0.05 / Power=0.8</a:t>
            </a:r>
          </a:p>
        </p:txBody>
      </p:sp>
      <p:sp>
        <p:nvSpPr>
          <p:cNvPr id="10" name="TextBox 9"/>
          <p:cNvSpPr txBox="1"/>
          <p:nvPr/>
        </p:nvSpPr>
        <p:spPr>
          <a:xfrm>
            <a:off x="548640" y="4937760"/>
            <a:ext cx="5303520" cy="640080"/>
          </a:xfrm>
          <a:prstGeom prst="rect">
            <a:avLst/>
          </a:prstGeom>
          <a:noFill/>
        </p:spPr>
        <p:txBody>
          <a:bodyPr wrap="square">
            <a:spAutoFit/>
          </a:bodyPr>
          <a:lstStyle/>
          <a:p>
            <a:r>
              <a:rPr sz="1200" b="1">
                <a:solidFill>
                  <a:srgbClr val="808080"/>
                </a:solidFill>
                <a:latin typeface="맑은 고딕"/>
              </a:rPr>
              <a:t>Sample Size</a:t>
            </a:r>
          </a:p>
          <a:p>
            <a:r>
              <a:rPr sz="1500" b="1">
                <a:solidFill>
                  <a:srgbClr val="1A1A1A"/>
                </a:solidFill>
                <a:latin typeface="맑은 고딕"/>
              </a:rPr>
              <a:t>28,749건 (그룹당 14,375건)</a:t>
            </a:r>
          </a:p>
        </p:txBody>
      </p:sp>
      <p:sp>
        <p:nvSpPr>
          <p:cNvPr id="11" name="TextBox 10"/>
          <p:cNvSpPr txBox="1"/>
          <p:nvPr/>
        </p:nvSpPr>
        <p:spPr>
          <a:xfrm>
            <a:off x="548640" y="5623560"/>
            <a:ext cx="5303520" cy="640080"/>
          </a:xfrm>
          <a:prstGeom prst="rect">
            <a:avLst/>
          </a:prstGeom>
          <a:noFill/>
        </p:spPr>
        <p:txBody>
          <a:bodyPr wrap="square">
            <a:spAutoFit/>
          </a:bodyPr>
          <a:lstStyle/>
          <a:p>
            <a:r>
              <a:rPr sz="1200" b="1">
                <a:solidFill>
                  <a:srgbClr val="808080"/>
                </a:solidFill>
                <a:latin typeface="맑은 고딕"/>
              </a:rPr>
              <a:t>Experiment Unit</a:t>
            </a:r>
          </a:p>
          <a:p>
            <a:r>
              <a:rPr sz="1500" b="1">
                <a:solidFill>
                  <a:srgbClr val="1A1A1A"/>
                </a:solidFill>
                <a:latin typeface="맑은 고딕"/>
              </a:rPr>
              <a:t>Fulfillment Center</a:t>
            </a:r>
          </a:p>
        </p:txBody>
      </p:sp>
      <p:sp>
        <p:nvSpPr>
          <p:cNvPr id="12" name="TextBox 11"/>
          <p:cNvSpPr txBox="1"/>
          <p:nvPr/>
        </p:nvSpPr>
        <p:spPr>
          <a:xfrm>
            <a:off x="6336792" y="2194560"/>
            <a:ext cx="5303520" cy="640080"/>
          </a:xfrm>
          <a:prstGeom prst="rect">
            <a:avLst/>
          </a:prstGeom>
          <a:noFill/>
        </p:spPr>
        <p:txBody>
          <a:bodyPr wrap="square">
            <a:spAutoFit/>
          </a:bodyPr>
          <a:lstStyle/>
          <a:p>
            <a:r>
              <a:rPr sz="1200" b="1">
                <a:solidFill>
                  <a:srgbClr val="808080"/>
                </a:solidFill>
                <a:latin typeface="맑은 고딕"/>
              </a:rPr>
              <a:t>Treatment</a:t>
            </a:r>
          </a:p>
          <a:p>
            <a:r>
              <a:rPr sz="1400" b="0">
                <a:solidFill>
                  <a:srgbClr val="1A1A1A"/>
                </a:solidFill>
                <a:latin typeface="맑은 고딕"/>
              </a:rPr>
              <a:t>배송 최적화 조치 적용 거점 (RJ 담당)</a:t>
            </a:r>
          </a:p>
        </p:txBody>
      </p:sp>
      <p:sp>
        <p:nvSpPr>
          <p:cNvPr id="13" name="TextBox 12"/>
          <p:cNvSpPr txBox="1"/>
          <p:nvPr/>
        </p:nvSpPr>
        <p:spPr>
          <a:xfrm>
            <a:off x="6336792" y="2880360"/>
            <a:ext cx="5303520" cy="640080"/>
          </a:xfrm>
          <a:prstGeom prst="rect">
            <a:avLst/>
          </a:prstGeom>
          <a:noFill/>
        </p:spPr>
        <p:txBody>
          <a:bodyPr wrap="square">
            <a:spAutoFit/>
          </a:bodyPr>
          <a:lstStyle/>
          <a:p>
            <a:r>
              <a:rPr sz="1200" b="1">
                <a:solidFill>
                  <a:srgbClr val="808080"/>
                </a:solidFill>
                <a:latin typeface="맑은 고딕"/>
              </a:rPr>
              <a:t>Control</a:t>
            </a:r>
          </a:p>
          <a:p>
            <a:r>
              <a:rPr sz="1400" b="0">
                <a:solidFill>
                  <a:srgbClr val="1A1A1A"/>
                </a:solidFill>
                <a:latin typeface="맑은 고딕"/>
              </a:rPr>
              <a:t>기존 운영 유지 거점</a:t>
            </a:r>
          </a:p>
        </p:txBody>
      </p:sp>
      <p:sp>
        <p:nvSpPr>
          <p:cNvPr id="14" name="TextBox 13"/>
          <p:cNvSpPr txBox="1"/>
          <p:nvPr/>
        </p:nvSpPr>
        <p:spPr>
          <a:xfrm>
            <a:off x="6336792" y="3749040"/>
            <a:ext cx="5303520" cy="365760"/>
          </a:xfrm>
          <a:prstGeom prst="rect">
            <a:avLst/>
          </a:prstGeom>
          <a:noFill/>
        </p:spPr>
        <p:txBody>
          <a:bodyPr wrap="none">
            <a:spAutoFit/>
          </a:bodyPr>
          <a:lstStyle/>
          <a:p>
            <a:r>
              <a:rPr sz="1200" b="1">
                <a:solidFill>
                  <a:srgbClr val="808080"/>
                </a:solidFill>
                <a:latin typeface="맑은 고딕"/>
              </a:rPr>
              <a:t>Success Criteria</a:t>
            </a:r>
          </a:p>
        </p:txBody>
      </p:sp>
      <p:sp>
        <p:nvSpPr>
          <p:cNvPr id="15" name="TextBox 14"/>
          <p:cNvSpPr txBox="1"/>
          <p:nvPr/>
        </p:nvSpPr>
        <p:spPr>
          <a:xfrm>
            <a:off x="6336792" y="4114800"/>
            <a:ext cx="5303520" cy="1828800"/>
          </a:xfrm>
          <a:prstGeom prst="rect">
            <a:avLst/>
          </a:prstGeom>
          <a:noFill/>
        </p:spPr>
        <p:txBody>
          <a:bodyPr wrap="square">
            <a:spAutoFit/>
          </a:bodyPr>
          <a:lstStyle/>
          <a:p>
            <a:pPr>
              <a:spcAft>
                <a:spcPts val="600"/>
              </a:spcAft>
            </a:pPr>
            <a:r>
              <a:rPr sz="1200" b="0">
                <a:solidFill>
                  <a:srgbClr val="1A1A1A"/>
                </a:solidFill>
                <a:latin typeface="맑은 고딕"/>
              </a:rPr>
              <a:t>✓  Primary Metric (Delivery Delay Rate) decreases by at least 1.0 percentage point</a:t>
            </a:r>
          </a:p>
          <a:p>
            <a:pPr>
              <a:spcAft>
                <a:spcPts val="600"/>
              </a:spcAft>
            </a:pPr>
            <a:r>
              <a:rPr sz="1200" b="0">
                <a:solidFill>
                  <a:srgbClr val="1A1A1A"/>
                </a:solidFill>
                <a:latin typeface="맑은 고딕"/>
              </a:rPr>
              <a:t>✓  p_value &lt; 0.05</a:t>
            </a:r>
          </a:p>
          <a:p>
            <a:pPr>
              <a:spcAft>
                <a:spcPts val="600"/>
              </a:spcAft>
            </a:pPr>
            <a:r>
              <a:rPr sz="1200" b="0">
                <a:solidFill>
                  <a:srgbClr val="1A1A1A"/>
                </a:solidFill>
                <a:latin typeface="맑은 고딕"/>
              </a:rPr>
              <a:t>✓  Carrier Delivery Time (Secondary Metric) decreases</a:t>
            </a:r>
          </a:p>
          <a:p>
            <a:pPr>
              <a:spcAft>
                <a:spcPts val="600"/>
              </a:spcAft>
            </a:pPr>
            <a:r>
              <a:rPr sz="1200" b="0">
                <a:solidFill>
                  <a:srgbClr val="1A1A1A"/>
                </a:solidFill>
                <a:latin typeface="맑은 고딕"/>
              </a:rPr>
              <a:t>✓  No deterioration in Guardrail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Implementation Roadmap</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 y="1920240"/>
            <a:ext cx="10543032"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548640" y="1645920"/>
            <a:ext cx="548640" cy="548640"/>
          </a:xfrm>
          <a:prstGeom prst="ellipse">
            <a:avLst/>
          </a:prstGeom>
          <a:solidFill>
            <a:srgbClr val="1A1A1A"/>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맑은 고딕"/>
              </a:rPr>
              <a:t>1</a:t>
            </a:r>
          </a:p>
        </p:txBody>
      </p:sp>
      <p:sp>
        <p:nvSpPr>
          <p:cNvPr id="7" name="TextBox 6"/>
          <p:cNvSpPr txBox="1"/>
          <p:nvPr/>
        </p:nvSpPr>
        <p:spPr>
          <a:xfrm>
            <a:off x="548640" y="2377440"/>
            <a:ext cx="2498598" cy="365760"/>
          </a:xfrm>
          <a:prstGeom prst="rect">
            <a:avLst/>
          </a:prstGeom>
          <a:noFill/>
        </p:spPr>
        <p:txBody>
          <a:bodyPr wrap="none">
            <a:spAutoFit/>
          </a:bodyPr>
          <a:lstStyle/>
          <a:p>
            <a:r>
              <a:rPr sz="1400" b="1">
                <a:solidFill>
                  <a:srgbClr val="1A1A1A"/>
                </a:solidFill>
                <a:latin typeface="맑은 고딕"/>
              </a:rPr>
              <a:t>Analysis Complete</a:t>
            </a:r>
          </a:p>
        </p:txBody>
      </p:sp>
      <p:sp>
        <p:nvSpPr>
          <p:cNvPr id="8" name="TextBox 7"/>
          <p:cNvSpPr txBox="1"/>
          <p:nvPr/>
        </p:nvSpPr>
        <p:spPr>
          <a:xfrm>
            <a:off x="548640" y="2743200"/>
            <a:ext cx="2498598" cy="274320"/>
          </a:xfrm>
          <a:prstGeom prst="rect">
            <a:avLst/>
          </a:prstGeom>
          <a:noFill/>
        </p:spPr>
        <p:txBody>
          <a:bodyPr wrap="none">
            <a:spAutoFit/>
          </a:bodyPr>
          <a:lstStyle/>
          <a:p>
            <a:r>
              <a:rPr sz="1100" b="0">
                <a:solidFill>
                  <a:srgbClr val="808080"/>
                </a:solidFill>
                <a:latin typeface="맑은 고딕"/>
              </a:rPr>
              <a:t>Done</a:t>
            </a:r>
          </a:p>
        </p:txBody>
      </p:sp>
      <p:sp>
        <p:nvSpPr>
          <p:cNvPr id="9" name="TextBox 8"/>
          <p:cNvSpPr txBox="1"/>
          <p:nvPr/>
        </p:nvSpPr>
        <p:spPr>
          <a:xfrm>
            <a:off x="548640" y="3108960"/>
            <a:ext cx="2498598" cy="731520"/>
          </a:xfrm>
          <a:prstGeom prst="rect">
            <a:avLst/>
          </a:prstGeom>
          <a:noFill/>
        </p:spPr>
        <p:txBody>
          <a:bodyPr wrap="square">
            <a:spAutoFit/>
          </a:bodyPr>
          <a:lstStyle/>
          <a:p>
            <a:r>
              <a:rPr sz="1100" b="0">
                <a:solidFill>
                  <a:srgbClr val="808080"/>
                </a:solidFill>
                <a:latin typeface="맑은 고딕"/>
              </a:rPr>
              <a:t>1~8단계 분석 완료</a:t>
            </a:r>
          </a:p>
        </p:txBody>
      </p:sp>
      <p:sp>
        <p:nvSpPr>
          <p:cNvPr id="10" name="Oval 9"/>
          <p:cNvSpPr/>
          <p:nvPr/>
        </p:nvSpPr>
        <p:spPr>
          <a:xfrm>
            <a:off x="3412998" y="1645920"/>
            <a:ext cx="548640" cy="548640"/>
          </a:xfrm>
          <a:prstGeom prst="ellipse">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A1A1A"/>
                </a:solidFill>
                <a:latin typeface="맑은 고딕"/>
              </a:rPr>
              <a:t>2</a:t>
            </a:r>
          </a:p>
        </p:txBody>
      </p:sp>
      <p:sp>
        <p:nvSpPr>
          <p:cNvPr id="11" name="TextBox 10"/>
          <p:cNvSpPr txBox="1"/>
          <p:nvPr/>
        </p:nvSpPr>
        <p:spPr>
          <a:xfrm>
            <a:off x="3412998" y="2377440"/>
            <a:ext cx="2498598" cy="365760"/>
          </a:xfrm>
          <a:prstGeom prst="rect">
            <a:avLst/>
          </a:prstGeom>
          <a:noFill/>
        </p:spPr>
        <p:txBody>
          <a:bodyPr wrap="none">
            <a:spAutoFit/>
          </a:bodyPr>
          <a:lstStyle/>
          <a:p>
            <a:r>
              <a:rPr sz="1400" b="1">
                <a:solidFill>
                  <a:srgbClr val="1A1A1A"/>
                </a:solidFill>
                <a:latin typeface="맑은 고딕"/>
              </a:rPr>
              <a:t>A/B Test</a:t>
            </a:r>
          </a:p>
        </p:txBody>
      </p:sp>
      <p:sp>
        <p:nvSpPr>
          <p:cNvPr id="12" name="TextBox 11"/>
          <p:cNvSpPr txBox="1"/>
          <p:nvPr/>
        </p:nvSpPr>
        <p:spPr>
          <a:xfrm>
            <a:off x="3412998" y="2743200"/>
            <a:ext cx="2498598" cy="274320"/>
          </a:xfrm>
          <a:prstGeom prst="rect">
            <a:avLst/>
          </a:prstGeom>
          <a:noFill/>
        </p:spPr>
        <p:txBody>
          <a:bodyPr wrap="none">
            <a:spAutoFit/>
          </a:bodyPr>
          <a:lstStyle/>
          <a:p>
            <a:r>
              <a:rPr sz="1100" b="0">
                <a:solidFill>
                  <a:srgbClr val="808080"/>
                </a:solidFill>
                <a:latin typeface="맑은 고딕"/>
              </a:rPr>
              <a:t>Next</a:t>
            </a:r>
          </a:p>
        </p:txBody>
      </p:sp>
      <p:sp>
        <p:nvSpPr>
          <p:cNvPr id="13" name="TextBox 12"/>
          <p:cNvSpPr txBox="1"/>
          <p:nvPr/>
        </p:nvSpPr>
        <p:spPr>
          <a:xfrm>
            <a:off x="3412998" y="3108960"/>
            <a:ext cx="2498598" cy="731520"/>
          </a:xfrm>
          <a:prstGeom prst="rect">
            <a:avLst/>
          </a:prstGeom>
          <a:noFill/>
        </p:spPr>
        <p:txBody>
          <a:bodyPr wrap="square">
            <a:spAutoFit/>
          </a:bodyPr>
          <a:lstStyle/>
          <a:p>
            <a:r>
              <a:rPr sz="1100" b="0">
                <a:solidFill>
                  <a:srgbClr val="808080"/>
                </a:solidFill>
                <a:latin typeface="맑은 고딕"/>
              </a:rPr>
              <a:t>1순위 시나리오 실험 설계</a:t>
            </a:r>
          </a:p>
        </p:txBody>
      </p:sp>
      <p:sp>
        <p:nvSpPr>
          <p:cNvPr id="14" name="Oval 13"/>
          <p:cNvSpPr/>
          <p:nvPr/>
        </p:nvSpPr>
        <p:spPr>
          <a:xfrm>
            <a:off x="6277356" y="1645920"/>
            <a:ext cx="548640" cy="548640"/>
          </a:xfrm>
          <a:prstGeom prst="ellipse">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A1A1A"/>
                </a:solidFill>
                <a:latin typeface="맑은 고딕"/>
              </a:rPr>
              <a:t>3</a:t>
            </a:r>
          </a:p>
        </p:txBody>
      </p:sp>
      <p:sp>
        <p:nvSpPr>
          <p:cNvPr id="15" name="TextBox 14"/>
          <p:cNvSpPr txBox="1"/>
          <p:nvPr/>
        </p:nvSpPr>
        <p:spPr>
          <a:xfrm>
            <a:off x="6277356" y="2377440"/>
            <a:ext cx="2498598" cy="365760"/>
          </a:xfrm>
          <a:prstGeom prst="rect">
            <a:avLst/>
          </a:prstGeom>
          <a:noFill/>
        </p:spPr>
        <p:txBody>
          <a:bodyPr wrap="none">
            <a:spAutoFit/>
          </a:bodyPr>
          <a:lstStyle/>
          <a:p>
            <a:r>
              <a:rPr sz="1400" b="1">
                <a:solidFill>
                  <a:srgbClr val="1A1A1A"/>
                </a:solidFill>
                <a:latin typeface="맑은 고딕"/>
              </a:rPr>
              <a:t>Validation</a:t>
            </a:r>
          </a:p>
        </p:txBody>
      </p:sp>
      <p:sp>
        <p:nvSpPr>
          <p:cNvPr id="16" name="TextBox 15"/>
          <p:cNvSpPr txBox="1"/>
          <p:nvPr/>
        </p:nvSpPr>
        <p:spPr>
          <a:xfrm>
            <a:off x="6277356" y="2743200"/>
            <a:ext cx="2498598" cy="274320"/>
          </a:xfrm>
          <a:prstGeom prst="rect">
            <a:avLst/>
          </a:prstGeom>
          <a:noFill/>
        </p:spPr>
        <p:txBody>
          <a:bodyPr wrap="none">
            <a:spAutoFit/>
          </a:bodyPr>
          <a:lstStyle/>
          <a:p>
            <a:r>
              <a:rPr sz="1100" b="0">
                <a:solidFill>
                  <a:srgbClr val="808080"/>
                </a:solidFill>
                <a:latin typeface="맑은 고딕"/>
              </a:rPr>
              <a:t>Pending</a:t>
            </a:r>
          </a:p>
        </p:txBody>
      </p:sp>
      <p:sp>
        <p:nvSpPr>
          <p:cNvPr id="17" name="TextBox 16"/>
          <p:cNvSpPr txBox="1"/>
          <p:nvPr/>
        </p:nvSpPr>
        <p:spPr>
          <a:xfrm>
            <a:off x="6277356" y="3108960"/>
            <a:ext cx="2498598" cy="731520"/>
          </a:xfrm>
          <a:prstGeom prst="rect">
            <a:avLst/>
          </a:prstGeom>
          <a:noFill/>
        </p:spPr>
        <p:txBody>
          <a:bodyPr wrap="square">
            <a:spAutoFit/>
          </a:bodyPr>
          <a:lstStyle/>
          <a:p>
            <a:r>
              <a:rPr sz="1100" b="0">
                <a:solidFill>
                  <a:srgbClr val="808080"/>
                </a:solidFill>
                <a:latin typeface="맑은 고딕"/>
              </a:rPr>
              <a:t>통계적 유의성 검증</a:t>
            </a:r>
          </a:p>
        </p:txBody>
      </p:sp>
      <p:sp>
        <p:nvSpPr>
          <p:cNvPr id="18" name="Oval 17"/>
          <p:cNvSpPr/>
          <p:nvPr/>
        </p:nvSpPr>
        <p:spPr>
          <a:xfrm>
            <a:off x="9141714" y="1645920"/>
            <a:ext cx="548640" cy="548640"/>
          </a:xfrm>
          <a:prstGeom prst="ellipse">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A1A1A"/>
                </a:solidFill>
                <a:latin typeface="맑은 고딕"/>
              </a:rPr>
              <a:t>4</a:t>
            </a:r>
          </a:p>
        </p:txBody>
      </p:sp>
      <p:sp>
        <p:nvSpPr>
          <p:cNvPr id="19" name="TextBox 18"/>
          <p:cNvSpPr txBox="1"/>
          <p:nvPr/>
        </p:nvSpPr>
        <p:spPr>
          <a:xfrm>
            <a:off x="9141714" y="2377440"/>
            <a:ext cx="2498598" cy="365760"/>
          </a:xfrm>
          <a:prstGeom prst="rect">
            <a:avLst/>
          </a:prstGeom>
          <a:noFill/>
        </p:spPr>
        <p:txBody>
          <a:bodyPr wrap="none">
            <a:spAutoFit/>
          </a:bodyPr>
          <a:lstStyle/>
          <a:p>
            <a:r>
              <a:rPr sz="1400" b="1">
                <a:solidFill>
                  <a:srgbClr val="1A1A1A"/>
                </a:solidFill>
                <a:latin typeface="맑은 고딕"/>
              </a:rPr>
              <a:t>Full Deployment</a:t>
            </a:r>
          </a:p>
        </p:txBody>
      </p:sp>
      <p:sp>
        <p:nvSpPr>
          <p:cNvPr id="20" name="TextBox 19"/>
          <p:cNvSpPr txBox="1"/>
          <p:nvPr/>
        </p:nvSpPr>
        <p:spPr>
          <a:xfrm>
            <a:off x="9141714" y="2743200"/>
            <a:ext cx="2498598" cy="274320"/>
          </a:xfrm>
          <a:prstGeom prst="rect">
            <a:avLst/>
          </a:prstGeom>
          <a:noFill/>
        </p:spPr>
        <p:txBody>
          <a:bodyPr wrap="none">
            <a:spAutoFit/>
          </a:bodyPr>
          <a:lstStyle/>
          <a:p>
            <a:r>
              <a:rPr sz="1100" b="0">
                <a:solidFill>
                  <a:srgbClr val="808080"/>
                </a:solidFill>
                <a:latin typeface="맑은 고딕"/>
              </a:rPr>
              <a:t>Pending</a:t>
            </a:r>
          </a:p>
        </p:txBody>
      </p:sp>
      <p:sp>
        <p:nvSpPr>
          <p:cNvPr id="21" name="TextBox 20"/>
          <p:cNvSpPr txBox="1"/>
          <p:nvPr/>
        </p:nvSpPr>
        <p:spPr>
          <a:xfrm>
            <a:off x="9141714" y="3108960"/>
            <a:ext cx="2498598" cy="731520"/>
          </a:xfrm>
          <a:prstGeom prst="rect">
            <a:avLst/>
          </a:prstGeom>
          <a:noFill/>
        </p:spPr>
        <p:txBody>
          <a:bodyPr wrap="square">
            <a:spAutoFit/>
          </a:bodyPr>
          <a:lstStyle/>
          <a:p>
            <a:r>
              <a:rPr sz="1100" b="0">
                <a:solidFill>
                  <a:srgbClr val="808080"/>
                </a:solidFill>
                <a:latin typeface="맑은 고딕"/>
              </a:rPr>
              <a:t>전사 확대 적용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Final Recommendation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1064240" cy="914400"/>
          </a:xfrm>
          <a:prstGeom prst="rect">
            <a:avLst/>
          </a:prstGeom>
          <a:noFill/>
        </p:spPr>
        <p:txBody>
          <a:bodyPr wrap="square">
            <a:spAutoFit/>
          </a:bodyPr>
          <a:lstStyle/>
          <a:p>
            <a:r>
              <a:rPr sz="1600" b="0">
                <a:solidFill>
                  <a:srgbClr val="1A1A1A"/>
                </a:solidFill>
                <a:latin typeface="맑은 고딕"/>
              </a:rPr>
              <a:t>customer_state이 배송 지연의 가장 중요한 통계적 원인(effect size 20.19%)으로 확인되었습니다.</a:t>
            </a:r>
          </a:p>
        </p:txBody>
      </p:sp>
      <p:sp>
        <p:nvSpPr>
          <p:cNvPr id="6" name="TextBox 5"/>
          <p:cNvSpPr txBox="1"/>
          <p:nvPr/>
        </p:nvSpPr>
        <p:spPr>
          <a:xfrm>
            <a:off x="548640" y="2560320"/>
            <a:ext cx="11064240" cy="914400"/>
          </a:xfrm>
          <a:prstGeom prst="rect">
            <a:avLst/>
          </a:prstGeom>
          <a:noFill/>
        </p:spPr>
        <p:txBody>
          <a:bodyPr wrap="square">
            <a:spAutoFit/>
          </a:bodyPr>
          <a:lstStyle/>
          <a:p>
            <a:r>
              <a:rPr sz="1600" b="0">
                <a:solidFill>
                  <a:srgbClr val="1A1A1A"/>
                </a:solidFill>
                <a:latin typeface="맑은 고딕"/>
              </a:rPr>
              <a:t>따라서 S1(RJ Delivery Time Optimization)을 우선적으로 A/B Test를 통해 검증한 후, 효과가 확인되면 전사 확대 적용을 권고합니다.</a:t>
            </a:r>
          </a:p>
        </p:txBody>
      </p:sp>
      <p:sp>
        <p:nvSpPr>
          <p:cNvPr id="7" name="Rectangle 6"/>
          <p:cNvSpPr/>
          <p:nvPr/>
        </p:nvSpPr>
        <p:spPr>
          <a:xfrm>
            <a:off x="548640" y="5120640"/>
            <a:ext cx="3514344"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1A1A1A"/>
                </a:solidFill>
                <a:latin typeface="맑은 고딕"/>
              </a:rPr>
              <a:t>74.21%</a:t>
            </a:r>
          </a:p>
          <a:p>
            <a:r>
              <a:rPr sz="1100" b="0">
                <a:solidFill>
                  <a:srgbClr val="808080"/>
                </a:solidFill>
                <a:latin typeface="맑은 고딕"/>
              </a:rPr>
              <a:t>Carrier Delivery 핵심 병목 비중</a:t>
            </a:r>
          </a:p>
        </p:txBody>
      </p:sp>
      <p:sp>
        <p:nvSpPr>
          <p:cNvPr id="8" name="Rectangle 7"/>
          <p:cNvSpPr/>
          <p:nvPr/>
        </p:nvSpPr>
        <p:spPr>
          <a:xfrm>
            <a:off x="4337304" y="5120640"/>
            <a:ext cx="3514344"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1A1A1A"/>
                </a:solidFill>
                <a:latin typeface="맑은 고딕"/>
              </a:rPr>
              <a:t>20.19%</a:t>
            </a:r>
          </a:p>
          <a:p>
            <a:r>
              <a:rPr sz="1100" b="0">
                <a:solidFill>
                  <a:srgbClr val="808080"/>
                </a:solidFill>
                <a:latin typeface="맑은 고딕"/>
              </a:rPr>
              <a:t>customer_state Effect Size</a:t>
            </a:r>
          </a:p>
        </p:txBody>
      </p:sp>
      <p:sp>
        <p:nvSpPr>
          <p:cNvPr id="9" name="Rectangle 8"/>
          <p:cNvSpPr/>
          <p:nvPr/>
        </p:nvSpPr>
        <p:spPr>
          <a:xfrm>
            <a:off x="8125968" y="5120640"/>
            <a:ext cx="3514344"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1A1A1A"/>
                </a:solidFill>
                <a:latin typeface="맑은 고딕"/>
              </a:rPr>
              <a:t>28,749건</a:t>
            </a:r>
          </a:p>
          <a:p>
            <a:r>
              <a:rPr sz="1100" b="0">
                <a:solidFill>
                  <a:srgbClr val="808080"/>
                </a:solidFill>
                <a:latin typeface="맑은 고딕"/>
              </a:rPr>
              <a:t>A/B Test 필요 샘플 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