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10058400" cy="914400"/>
          </a:xfrm>
          <a:prstGeom prst="rect">
            <a:avLst/>
          </a:prstGeom>
          <a:noFill/>
        </p:spPr>
        <p:txBody>
          <a:bodyPr wrap="none">
            <a:spAutoFit/>
          </a:bodyPr>
          <a:lstStyle/>
          <a:p>
            <a:r>
              <a:rPr sz="3600" b="1">
                <a:solidFill>
                  <a:srgbClr val="1A1A1A"/>
                </a:solidFill>
                <a:latin typeface="맑은 고딕"/>
              </a:rPr>
              <a:t>Olist E-Commerce</a:t>
            </a:r>
          </a:p>
        </p:txBody>
      </p:sp>
      <p:sp>
        <p:nvSpPr>
          <p:cNvPr id="3" name="TextBox 2"/>
          <p:cNvSpPr txBox="1"/>
          <p:nvPr/>
        </p:nvSpPr>
        <p:spPr>
          <a:xfrm>
            <a:off x="548640" y="2651760"/>
            <a:ext cx="10058400" cy="914400"/>
          </a:xfrm>
          <a:prstGeom prst="rect">
            <a:avLst/>
          </a:prstGeom>
          <a:noFill/>
        </p:spPr>
        <p:txBody>
          <a:bodyPr wrap="none">
            <a:spAutoFit/>
          </a:bodyPr>
          <a:lstStyle/>
          <a:p>
            <a:r>
              <a:rPr sz="2200" b="0">
                <a:solidFill>
                  <a:srgbClr val="808080"/>
                </a:solidFill>
                <a:latin typeface="맑은 고딕"/>
              </a:rPr>
              <a:t>Delivery Process Bottleneck Analysis &amp; Improvement Strategy</a:t>
            </a:r>
          </a:p>
        </p:txBody>
      </p:sp>
      <p:sp>
        <p:nvSpPr>
          <p:cNvPr id="4" name="TextBox 3"/>
          <p:cNvSpPr txBox="1"/>
          <p:nvPr/>
        </p:nvSpPr>
        <p:spPr>
          <a:xfrm>
            <a:off x="548640" y="3566160"/>
            <a:ext cx="10058400" cy="365760"/>
          </a:xfrm>
          <a:prstGeom prst="rect">
            <a:avLst/>
          </a:prstGeom>
          <a:noFill/>
        </p:spPr>
        <p:txBody>
          <a:bodyPr wrap="none">
            <a:spAutoFit/>
          </a:bodyPr>
          <a:lstStyle/>
          <a:p>
            <a:r>
              <a:rPr sz="1300" b="0">
                <a:solidFill>
                  <a:srgbClr val="808080"/>
                </a:solidFill>
                <a:latin typeface="맑은 고딕"/>
              </a:rPr>
              <a:t>Executive Report | Target: 물류 운영 책임자 및 경영진</a:t>
            </a:r>
          </a:p>
        </p:txBody>
      </p:sp>
      <p:cxnSp>
        <p:nvCxnSpPr>
          <p:cNvPr id="5" name="Connector 4"/>
          <p:cNvCxnSpPr/>
          <p:nvPr/>
        </p:nvCxnSpPr>
        <p:spPr>
          <a:xfrm>
            <a:off x="548640" y="4114800"/>
            <a:ext cx="3566160"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4754880"/>
            <a:ext cx="3291840" cy="914400"/>
          </a:xfrm>
          <a:prstGeom prst="rect">
            <a:avLst/>
          </a:prstGeom>
          <a:noFill/>
        </p:spPr>
        <p:txBody>
          <a:bodyPr wrap="none">
            <a:spAutoFit/>
          </a:bodyPr>
          <a:lstStyle/>
          <a:p>
            <a:r>
              <a:rPr sz="2400" b="1">
                <a:solidFill>
                  <a:srgbClr val="1A1A1A"/>
                </a:solidFill>
                <a:latin typeface="맑은 고딕"/>
              </a:rPr>
              <a:t>95,082 Orders</a:t>
            </a:r>
          </a:p>
          <a:p>
            <a:r>
              <a:rPr sz="1200" b="0">
                <a:solidFill>
                  <a:srgbClr val="808080"/>
                </a:solidFill>
                <a:latin typeface="맑은 고딕"/>
              </a:rPr>
              <a:t>Analyzed</a:t>
            </a:r>
          </a:p>
        </p:txBody>
      </p:sp>
      <p:sp>
        <p:nvSpPr>
          <p:cNvPr id="7" name="TextBox 6"/>
          <p:cNvSpPr txBox="1"/>
          <p:nvPr/>
        </p:nvSpPr>
        <p:spPr>
          <a:xfrm>
            <a:off x="4206240" y="4754880"/>
            <a:ext cx="3291840" cy="914400"/>
          </a:xfrm>
          <a:prstGeom prst="rect">
            <a:avLst/>
          </a:prstGeom>
          <a:noFill/>
        </p:spPr>
        <p:txBody>
          <a:bodyPr wrap="none">
            <a:spAutoFit/>
          </a:bodyPr>
          <a:lstStyle/>
          <a:p>
            <a:r>
              <a:rPr sz="2400" b="1">
                <a:solidFill>
                  <a:srgbClr val="1A1A1A"/>
                </a:solidFill>
                <a:latin typeface="맑은 고딕"/>
              </a:rPr>
              <a:t>8.2%</a:t>
            </a:r>
          </a:p>
          <a:p>
            <a:r>
              <a:rPr sz="1200" b="0">
                <a:solidFill>
                  <a:srgbClr val="808080"/>
                </a:solidFill>
                <a:latin typeface="맑은 고딕"/>
              </a:rPr>
              <a:t>Delay Rate</a:t>
            </a:r>
          </a:p>
        </p:txBody>
      </p:sp>
      <p:sp>
        <p:nvSpPr>
          <p:cNvPr id="8" name="TextBox 7"/>
          <p:cNvSpPr txBox="1"/>
          <p:nvPr/>
        </p:nvSpPr>
        <p:spPr>
          <a:xfrm>
            <a:off x="7863840" y="4754880"/>
            <a:ext cx="3291840" cy="914400"/>
          </a:xfrm>
          <a:prstGeom prst="rect">
            <a:avLst/>
          </a:prstGeom>
          <a:noFill/>
        </p:spPr>
        <p:txBody>
          <a:bodyPr wrap="none">
            <a:spAutoFit/>
          </a:bodyPr>
          <a:lstStyle/>
          <a:p>
            <a:r>
              <a:rPr sz="2400" b="1">
                <a:solidFill>
                  <a:srgbClr val="1A1A1A"/>
                </a:solidFill>
                <a:latin typeface="맑은 고딕"/>
              </a:rPr>
              <a:t>4 Scenarios</a:t>
            </a:r>
          </a:p>
          <a:p>
            <a:r>
              <a:rPr sz="1200" b="0">
                <a:solidFill>
                  <a:srgbClr val="808080"/>
                </a:solidFill>
                <a:latin typeface="맑은 고딕"/>
              </a:rPr>
              <a:t>Recommended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Executive Summary</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74520"/>
            <a:ext cx="2292858" cy="365760"/>
          </a:xfrm>
          <a:prstGeom prst="rect">
            <a:avLst/>
          </a:prstGeom>
          <a:noFill/>
        </p:spPr>
        <p:txBody>
          <a:bodyPr wrap="none">
            <a:spAutoFit/>
          </a:bodyPr>
          <a:lstStyle/>
          <a:p>
            <a:r>
              <a:rPr sz="1700" b="1">
                <a:solidFill>
                  <a:srgbClr val="808080"/>
                </a:solidFill>
                <a:latin typeface="맑은 고딕"/>
              </a:rPr>
              <a:t>Problem</a:t>
            </a:r>
          </a:p>
        </p:txBody>
      </p:sp>
      <p:sp>
        <p:nvSpPr>
          <p:cNvPr id="7" name="TextBox 6"/>
          <p:cNvSpPr txBox="1"/>
          <p:nvPr/>
        </p:nvSpPr>
        <p:spPr>
          <a:xfrm>
            <a:off x="685800" y="2834640"/>
            <a:ext cx="2292858" cy="1645920"/>
          </a:xfrm>
          <a:prstGeom prst="rect">
            <a:avLst/>
          </a:prstGeom>
          <a:noFill/>
        </p:spPr>
        <p:txBody>
          <a:bodyPr wrap="square">
            <a:spAutoFit/>
          </a:bodyPr>
          <a:lstStyle/>
          <a:p>
            <a:r>
              <a:rPr sz="2600" b="1">
                <a:solidFill>
                  <a:srgbClr val="1A1A1A"/>
                </a:solidFill>
                <a:latin typeface="맑은 고딕"/>
              </a:rPr>
              <a:t>8.2%</a:t>
            </a:r>
          </a:p>
          <a:p>
            <a:pPr>
              <a:spcBef>
                <a:spcPts val="1000"/>
              </a:spcBef>
            </a:pPr>
            <a:r>
              <a:rPr sz="1200" b="0">
                <a:solidFill>
                  <a:srgbClr val="808080"/>
                </a:solidFill>
                <a:latin typeface="맑은 고딕"/>
              </a:rPr>
              <a:t>배송 지연율</a:t>
            </a:r>
          </a:p>
        </p:txBody>
      </p:sp>
      <p:sp>
        <p:nvSpPr>
          <p:cNvPr id="8" name="Rectangle 7"/>
          <p:cNvSpPr/>
          <p:nvPr/>
        </p:nvSpPr>
        <p:spPr>
          <a:xfrm>
            <a:off x="3390138"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7298" y="1874520"/>
            <a:ext cx="2292858" cy="365760"/>
          </a:xfrm>
          <a:prstGeom prst="rect">
            <a:avLst/>
          </a:prstGeom>
          <a:noFill/>
        </p:spPr>
        <p:txBody>
          <a:bodyPr wrap="none">
            <a:spAutoFit/>
          </a:bodyPr>
          <a:lstStyle/>
          <a:p>
            <a:r>
              <a:rPr sz="1700" b="1">
                <a:solidFill>
                  <a:srgbClr val="808080"/>
                </a:solidFill>
                <a:latin typeface="맑은 고딕"/>
              </a:rPr>
              <a:t>Cause</a:t>
            </a:r>
          </a:p>
        </p:txBody>
      </p:sp>
      <p:sp>
        <p:nvSpPr>
          <p:cNvPr id="10" name="TextBox 9"/>
          <p:cNvSpPr txBox="1"/>
          <p:nvPr/>
        </p:nvSpPr>
        <p:spPr>
          <a:xfrm>
            <a:off x="3527298" y="2834640"/>
            <a:ext cx="2292858" cy="1645920"/>
          </a:xfrm>
          <a:prstGeom prst="rect">
            <a:avLst/>
          </a:prstGeom>
          <a:noFill/>
        </p:spPr>
        <p:txBody>
          <a:bodyPr wrap="square">
            <a:spAutoFit/>
          </a:bodyPr>
          <a:lstStyle/>
          <a:p>
            <a:r>
              <a:rPr sz="2600" b="1">
                <a:solidFill>
                  <a:srgbClr val="1A1A1A"/>
                </a:solidFill>
                <a:latin typeface="맑은 고딕"/>
              </a:rPr>
              <a:t>Carrier Delivery</a:t>
            </a:r>
          </a:p>
          <a:p>
            <a:pPr>
              <a:spcBef>
                <a:spcPts val="1000"/>
              </a:spcBef>
            </a:pPr>
            <a:r>
              <a:rPr sz="1200" b="0">
                <a:solidFill>
                  <a:srgbClr val="808080"/>
                </a:solidFill>
                <a:latin typeface="맑은 고딕"/>
              </a:rPr>
              <a:t>핵심 병목 구간</a:t>
            </a:r>
          </a:p>
        </p:txBody>
      </p:sp>
      <p:sp>
        <p:nvSpPr>
          <p:cNvPr id="11" name="Rectangle 10"/>
          <p:cNvSpPr/>
          <p:nvPr/>
        </p:nvSpPr>
        <p:spPr>
          <a:xfrm>
            <a:off x="6231636"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8796" y="1874520"/>
            <a:ext cx="2292858" cy="365760"/>
          </a:xfrm>
          <a:prstGeom prst="rect">
            <a:avLst/>
          </a:prstGeom>
          <a:noFill/>
        </p:spPr>
        <p:txBody>
          <a:bodyPr wrap="none">
            <a:spAutoFit/>
          </a:bodyPr>
          <a:lstStyle/>
          <a:p>
            <a:r>
              <a:rPr sz="1700" b="1">
                <a:solidFill>
                  <a:srgbClr val="808080"/>
                </a:solidFill>
                <a:latin typeface="맑은 고딕"/>
              </a:rPr>
              <a:t>Top Priority</a:t>
            </a:r>
          </a:p>
        </p:txBody>
      </p:sp>
      <p:sp>
        <p:nvSpPr>
          <p:cNvPr id="13" name="TextBox 12"/>
          <p:cNvSpPr txBox="1"/>
          <p:nvPr/>
        </p:nvSpPr>
        <p:spPr>
          <a:xfrm>
            <a:off x="6368796" y="2834640"/>
            <a:ext cx="2292858" cy="1645920"/>
          </a:xfrm>
          <a:prstGeom prst="rect">
            <a:avLst/>
          </a:prstGeom>
          <a:noFill/>
        </p:spPr>
        <p:txBody>
          <a:bodyPr wrap="square">
            <a:spAutoFit/>
          </a:bodyPr>
          <a:lstStyle/>
          <a:p>
            <a:r>
              <a:rPr sz="2600" b="1">
                <a:solidFill>
                  <a:srgbClr val="1A1A1A"/>
                </a:solidFill>
                <a:latin typeface="맑은 고딕"/>
              </a:rPr>
              <a:t>S1</a:t>
            </a:r>
          </a:p>
          <a:p>
            <a:pPr>
              <a:spcBef>
                <a:spcPts val="1000"/>
              </a:spcBef>
            </a:pPr>
            <a:r>
              <a:rPr sz="1200" b="0">
                <a:solidFill>
                  <a:srgbClr val="808080"/>
                </a:solidFill>
                <a:latin typeface="맑은 고딕"/>
              </a:rPr>
              <a:t>RJ Carrier Delivery Time Reduction</a:t>
            </a:r>
          </a:p>
        </p:txBody>
      </p:sp>
      <p:sp>
        <p:nvSpPr>
          <p:cNvPr id="14" name="Rectangle 13"/>
          <p:cNvSpPr/>
          <p:nvPr/>
        </p:nvSpPr>
        <p:spPr>
          <a:xfrm>
            <a:off x="9073134" y="1645920"/>
            <a:ext cx="2567178" cy="320040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0294" y="1874520"/>
            <a:ext cx="2292858" cy="365760"/>
          </a:xfrm>
          <a:prstGeom prst="rect">
            <a:avLst/>
          </a:prstGeom>
          <a:noFill/>
        </p:spPr>
        <p:txBody>
          <a:bodyPr wrap="none">
            <a:spAutoFit/>
          </a:bodyPr>
          <a:lstStyle/>
          <a:p>
            <a:r>
              <a:rPr sz="1700" b="1">
                <a:solidFill>
                  <a:srgbClr val="808080"/>
                </a:solidFill>
                <a:latin typeface="맑은 고딕"/>
              </a:rPr>
              <a:t>Effect Size</a:t>
            </a:r>
          </a:p>
        </p:txBody>
      </p:sp>
      <p:sp>
        <p:nvSpPr>
          <p:cNvPr id="16" name="TextBox 15"/>
          <p:cNvSpPr txBox="1"/>
          <p:nvPr/>
        </p:nvSpPr>
        <p:spPr>
          <a:xfrm>
            <a:off x="9210294" y="2834640"/>
            <a:ext cx="2292858" cy="1645920"/>
          </a:xfrm>
          <a:prstGeom prst="rect">
            <a:avLst/>
          </a:prstGeom>
          <a:noFill/>
        </p:spPr>
        <p:txBody>
          <a:bodyPr wrap="square">
            <a:spAutoFit/>
          </a:bodyPr>
          <a:lstStyle/>
          <a:p>
            <a:r>
              <a:rPr sz="2600" b="1">
                <a:solidFill>
                  <a:srgbClr val="1A1A1A"/>
                </a:solidFill>
                <a:latin typeface="맑은 고딕"/>
              </a:rPr>
              <a:t>20.19%</a:t>
            </a:r>
          </a:p>
          <a:p>
            <a:pPr>
              <a:spcBef>
                <a:spcPts val="1000"/>
              </a:spcBef>
            </a:pPr>
            <a:r>
              <a:rPr sz="1200" b="0">
                <a:solidFill>
                  <a:srgbClr val="808080"/>
                </a:solidFill>
                <a:latin typeface="맑은 고딕"/>
              </a:rPr>
              <a:t>1순위 원인 설명력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Business Problem</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3657600" cy="1097280"/>
          </a:xfrm>
          <a:prstGeom prst="rect">
            <a:avLst/>
          </a:prstGeom>
          <a:noFill/>
        </p:spPr>
        <p:txBody>
          <a:bodyPr wrap="none">
            <a:spAutoFit/>
          </a:bodyPr>
          <a:lstStyle/>
          <a:p>
            <a:r>
              <a:rPr sz="4800" b="1">
                <a:solidFill>
                  <a:srgbClr val="1A1A1A"/>
                </a:solidFill>
                <a:latin typeface="맑은 고딕"/>
              </a:rPr>
              <a:t>7,792건</a:t>
            </a:r>
          </a:p>
        </p:txBody>
      </p:sp>
      <p:sp>
        <p:nvSpPr>
          <p:cNvPr id="6" name="TextBox 5"/>
          <p:cNvSpPr txBox="1"/>
          <p:nvPr/>
        </p:nvSpPr>
        <p:spPr>
          <a:xfrm>
            <a:off x="4389120" y="1737360"/>
            <a:ext cx="6858000" cy="365760"/>
          </a:xfrm>
          <a:prstGeom prst="rect">
            <a:avLst/>
          </a:prstGeom>
          <a:noFill/>
        </p:spPr>
        <p:txBody>
          <a:bodyPr wrap="none">
            <a:spAutoFit/>
          </a:bodyPr>
          <a:lstStyle/>
          <a:p>
            <a:r>
              <a:rPr sz="1400" b="0">
                <a:solidFill>
                  <a:srgbClr val="808080"/>
                </a:solidFill>
                <a:latin typeface="맑은 고딕"/>
              </a:rPr>
              <a:t>전체 95,082건 주문 중</a:t>
            </a:r>
          </a:p>
        </p:txBody>
      </p:sp>
      <p:sp>
        <p:nvSpPr>
          <p:cNvPr id="7" name="TextBox 6"/>
          <p:cNvSpPr txBox="1"/>
          <p:nvPr/>
        </p:nvSpPr>
        <p:spPr>
          <a:xfrm>
            <a:off x="4389120" y="2103120"/>
            <a:ext cx="6858000" cy="457200"/>
          </a:xfrm>
          <a:prstGeom prst="rect">
            <a:avLst/>
          </a:prstGeom>
          <a:noFill/>
        </p:spPr>
        <p:txBody>
          <a:bodyPr wrap="none">
            <a:spAutoFit/>
          </a:bodyPr>
          <a:lstStyle/>
          <a:p>
            <a:r>
              <a:rPr sz="1800" b="1">
                <a:solidFill>
                  <a:srgbClr val="1A1A1A"/>
                </a:solidFill>
                <a:latin typeface="맑은 고딕"/>
              </a:rPr>
              <a:t>배송 지연 발생 (지연율 8.2%)</a:t>
            </a:r>
          </a:p>
        </p:txBody>
      </p:sp>
      <p:graphicFrame>
        <p:nvGraphicFramePr>
          <p:cNvPr id="8" name="Table 7"/>
          <p:cNvGraphicFramePr>
            <a:graphicFrameLocks noGrp="1"/>
          </p:cNvGraphicFramePr>
          <p:nvPr/>
        </p:nvGraphicFramePr>
        <p:xfrm>
          <a:off x="548640" y="2926080"/>
          <a:ext cx="11091672" cy="1463040"/>
        </p:xfrm>
        <a:graphic>
          <a:graphicData uri="http://schemas.openxmlformats.org/drawingml/2006/table">
            <a:tbl>
              <a:tblPr>
                <a:tableStyleId>{5C22544A-7EE6-4342-B048-85BDC9FD1C3A}</a:tableStyleId>
              </a:tblPr>
              <a:tblGrid>
                <a:gridCol w="2772918"/>
                <a:gridCol w="2772918"/>
                <a:gridCol w="2772918"/>
                <a:gridCol w="2772918"/>
              </a:tblGrid>
              <a:tr h="365760">
                <a:tc>
                  <a:txBody>
                    <a:bodyPr/>
                    <a:lstStyle/>
                    <a:p>
                      <a:r>
                        <a:rPr sz="1300" b="1">
                          <a:solidFill>
                            <a:srgbClr val="1A1A1A"/>
                          </a:solidFill>
                          <a:latin typeface="맑은 고딕"/>
                        </a:rPr>
                        <a:t>Stage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Delayed (h)</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Normal (h)</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Ratio</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r>
              <a:tr h="365760">
                <a:tc>
                  <a:txBody>
                    <a:bodyPr/>
                    <a:lstStyle/>
                    <a:p>
                      <a:r>
                        <a:rPr sz="1200" b="0">
                          <a:solidFill>
                            <a:srgbClr val="1A1A1A"/>
                          </a:solidFill>
                          <a:latin typeface="맑은 고딕"/>
                        </a:rPr>
                        <a:t>Payment Approval</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12.05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9.44</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1.28x</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Seller Processing</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128.38</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63.09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2.03x</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Carrier Delivery</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616.34</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189.78</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3.25x</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bl>
          </a:graphicData>
        </a:graphic>
      </p:graphicFrame>
      <p:sp>
        <p:nvSpPr>
          <p:cNvPr id="9" name="TextBox 8"/>
          <p:cNvSpPr txBox="1"/>
          <p:nvPr/>
        </p:nvSpPr>
        <p:spPr>
          <a:xfrm>
            <a:off x="548640" y="6309360"/>
            <a:ext cx="10972800" cy="365760"/>
          </a:xfrm>
          <a:prstGeom prst="rect">
            <a:avLst/>
          </a:prstGeom>
          <a:noFill/>
        </p:spPr>
        <p:txBody>
          <a:bodyPr wrap="none">
            <a:spAutoFit/>
          </a:bodyPr>
          <a:lstStyle/>
          <a:p>
            <a:r>
              <a:rPr sz="1000" b="0">
                <a:solidFill>
                  <a:srgbClr val="808080"/>
                </a:solidFill>
                <a:latin typeface="맑은 고딕"/>
              </a:rPr>
              <a:t>Business Risk: 고객 경험 저하 · 브랜드 신뢰도 하락 · 운영 비용 증가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Process Modeling (BPMN)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bpmn.png"/>
          <p:cNvPicPr>
            <a:picLocks noChangeAspect="1"/>
          </p:cNvPicPr>
          <p:nvPr/>
        </p:nvPicPr>
        <p:blipFill>
          <a:blip r:embed="rId2"/>
          <a:stretch>
            <a:fillRect/>
          </a:stretch>
        </p:blipFill>
        <p:spPr>
          <a:xfrm>
            <a:off x="3538237" y="1645920"/>
            <a:ext cx="5112477" cy="4389120"/>
          </a:xfrm>
          <a:prstGeom prst="rect">
            <a:avLst/>
          </a:prstGeom>
        </p:spPr>
      </p:pic>
      <p:sp>
        <p:nvSpPr>
          <p:cNvPr id="6" name="TextBox 5"/>
          <p:cNvSpPr txBox="1"/>
          <p:nvPr/>
        </p:nvSpPr>
        <p:spPr>
          <a:xfrm>
            <a:off x="548640" y="6309360"/>
            <a:ext cx="10972800" cy="365760"/>
          </a:xfrm>
          <a:prstGeom prst="rect">
            <a:avLst/>
          </a:prstGeom>
          <a:noFill/>
        </p:spPr>
        <p:txBody>
          <a:bodyPr wrap="none">
            <a:spAutoFit/>
          </a:bodyPr>
          <a:lstStyle/>
          <a:p>
            <a:r>
              <a:rPr sz="1000" b="0">
                <a:solidFill>
                  <a:srgbClr val="808080"/>
                </a:solidFill>
                <a:latin typeface="맑은 고딕"/>
              </a:rPr>
              <a:t>각 구간별 병목 발생 가능성을 가설로 설정 → Bottleneck Detection으로 검증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Bottleneck Detection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457200"/>
          </a:xfrm>
          <a:prstGeom prst="rect">
            <a:avLst/>
          </a:prstGeom>
          <a:noFill/>
        </p:spPr>
        <p:txBody>
          <a:bodyPr wrap="none">
            <a:spAutoFit/>
          </a:bodyPr>
          <a:lstStyle/>
          <a:p>
            <a:r>
              <a:rPr sz="1600" b="1">
                <a:solidFill>
                  <a:srgbClr val="1A1A1A"/>
                </a:solidFill>
                <a:latin typeface="맑은 고딕"/>
              </a:rPr>
              <a:t>Carrier Delivery 74.21% of Total Lead Time | 지연 주문에서 3.25배 증가</a:t>
            </a:r>
          </a:p>
        </p:txBody>
      </p:sp>
      <p:sp>
        <p:nvSpPr>
          <p:cNvPr id="6" name="Rectangle 5"/>
          <p:cNvSpPr/>
          <p:nvPr/>
        </p:nvSpPr>
        <p:spPr>
          <a:xfrm>
            <a:off x="548640" y="2194560"/>
            <a:ext cx="3514344" cy="100584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r>
              <a:rPr sz="2200" b="1">
                <a:solidFill>
                  <a:srgbClr val="1A1A1A"/>
                </a:solidFill>
                <a:latin typeface="맑은 고딕"/>
              </a:rPr>
              <a:t>74.21%</a:t>
            </a:r>
          </a:p>
          <a:p>
            <a:r>
              <a:rPr sz="1100" b="0">
                <a:solidFill>
                  <a:srgbClr val="808080"/>
                </a:solidFill>
                <a:latin typeface="맑은 고딕"/>
              </a:rPr>
              <a:t>Carrier Delivery · avg 224.74h</a:t>
            </a:r>
          </a:p>
        </p:txBody>
      </p:sp>
      <p:sp>
        <p:nvSpPr>
          <p:cNvPr id="7" name="Rectangle 6"/>
          <p:cNvSpPr/>
          <p:nvPr/>
        </p:nvSpPr>
        <p:spPr>
          <a:xfrm>
            <a:off x="4337304" y="2194560"/>
            <a:ext cx="3514344" cy="100584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r>
              <a:rPr sz="2200" b="1">
                <a:solidFill>
                  <a:srgbClr val="1A1A1A"/>
                </a:solidFill>
                <a:latin typeface="맑은 고딕"/>
              </a:rPr>
              <a:t>22.6%</a:t>
            </a:r>
          </a:p>
          <a:p>
            <a:r>
              <a:rPr sz="1100" b="0">
                <a:solidFill>
                  <a:srgbClr val="808080"/>
                </a:solidFill>
                <a:latin typeface="맑은 고딕"/>
              </a:rPr>
              <a:t>Seller Processing · avg 68.44h</a:t>
            </a:r>
          </a:p>
        </p:txBody>
      </p:sp>
      <p:sp>
        <p:nvSpPr>
          <p:cNvPr id="8" name="Rectangle 7"/>
          <p:cNvSpPr/>
          <p:nvPr/>
        </p:nvSpPr>
        <p:spPr>
          <a:xfrm>
            <a:off x="8125968" y="2194560"/>
            <a:ext cx="3514344" cy="100584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r>
              <a:rPr sz="2200" b="1">
                <a:solidFill>
                  <a:srgbClr val="1A1A1A"/>
                </a:solidFill>
                <a:latin typeface="맑은 고딕"/>
              </a:rPr>
              <a:t>3.19%</a:t>
            </a:r>
          </a:p>
          <a:p>
            <a:r>
              <a:rPr sz="1100" b="0">
                <a:solidFill>
                  <a:srgbClr val="808080"/>
                </a:solidFill>
                <a:latin typeface="맑은 고딕"/>
              </a:rPr>
              <a:t>Payment Approval · avg 9.65h</a:t>
            </a:r>
          </a:p>
        </p:txBody>
      </p:sp>
      <p:pic>
        <p:nvPicPr>
          <p:cNvPr id="9" name="Picture 8" descr="stage_time_chart.png"/>
          <p:cNvPicPr>
            <a:picLocks noChangeAspect="1"/>
          </p:cNvPicPr>
          <p:nvPr/>
        </p:nvPicPr>
        <p:blipFill>
          <a:blip r:embed="rId2"/>
          <a:stretch>
            <a:fillRect/>
          </a:stretch>
        </p:blipFill>
        <p:spPr>
          <a:xfrm>
            <a:off x="912114" y="3566160"/>
            <a:ext cx="4681728" cy="2926080"/>
          </a:xfrm>
          <a:prstGeom prst="rect">
            <a:avLst/>
          </a:prstGeom>
        </p:spPr>
      </p:pic>
      <p:pic>
        <p:nvPicPr>
          <p:cNvPr id="10" name="Picture 9" descr="delayed_vs_normal.png"/>
          <p:cNvPicPr>
            <a:picLocks noChangeAspect="1"/>
          </p:cNvPicPr>
          <p:nvPr/>
        </p:nvPicPr>
        <p:blipFill>
          <a:blip r:embed="rId3"/>
          <a:stretch>
            <a:fillRect/>
          </a:stretch>
        </p:blipFill>
        <p:spPr>
          <a:xfrm>
            <a:off x="6595110" y="3566160"/>
            <a:ext cx="4681728" cy="2926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Root Cause Analysis — Carrier Delivery</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400" b="0">
                <a:solidFill>
                  <a:srgbClr val="808080"/>
                </a:solidFill>
                <a:latin typeface="맑은 고딕"/>
              </a:rPr>
              <a:t>1st Bottleneck | Lead Time 74.21%</a:t>
            </a:r>
          </a:p>
        </p:txBody>
      </p:sp>
      <p:pic>
        <p:nvPicPr>
          <p:cNvPr id="6" name="Picture 5" descr="effect_size_carrier_delivery.png"/>
          <p:cNvPicPr>
            <a:picLocks noChangeAspect="1"/>
          </p:cNvPicPr>
          <p:nvPr/>
        </p:nvPicPr>
        <p:blipFill>
          <a:blip r:embed="rId2"/>
          <a:stretch>
            <a:fillRect/>
          </a:stretch>
        </p:blipFill>
        <p:spPr>
          <a:xfrm>
            <a:off x="548640" y="2103120"/>
            <a:ext cx="6400800" cy="3200400"/>
          </a:xfrm>
          <a:prstGeom prst="rect">
            <a:avLst/>
          </a:prstGeom>
        </p:spPr>
      </p:pic>
      <p:sp>
        <p:nvSpPr>
          <p:cNvPr id="7" name="Rectangle 6"/>
          <p:cNvSpPr/>
          <p:nvPr/>
        </p:nvSpPr>
        <p:spPr>
          <a:xfrm>
            <a:off x="7498079" y="2103120"/>
            <a:ext cx="4142233" cy="18745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400" b="1">
                <a:solidFill>
                  <a:srgbClr val="1A1A1A"/>
                </a:solidFill>
                <a:latin typeface="맑은 고딕"/>
              </a:rPr>
              <a:t>Geography</a:t>
            </a:r>
          </a:p>
          <a:p>
            <a:r>
              <a:rPr sz="1800" b="1">
                <a:solidFill>
                  <a:srgbClr val="808080"/>
                </a:solidFill>
                <a:latin typeface="맑은 고딕"/>
              </a:rPr>
              <a:t>η²=20.19%</a:t>
            </a:r>
          </a:p>
          <a:p>
            <a:r>
              <a:rPr sz="1000" b="0">
                <a:solidFill>
                  <a:srgbClr val="808080"/>
                </a:solidFill>
                <a:latin typeface="맑은 고딕"/>
              </a:rPr>
              <a:t>고객 지역(customer_state)에 따라 배송 시간이 크게 달라지며, 가장 빠른 SP 132.9h 대비 가장 느린 AP 589.5h로 약 4.4배 차이가 나타나 지리적 거리와 인프라 격차가 주요 병목 요인으로 확인됩니다.</a:t>
            </a:r>
          </a:p>
        </p:txBody>
      </p:sp>
      <p:sp>
        <p:nvSpPr>
          <p:cNvPr id="8" name="Rectangle 7"/>
          <p:cNvSpPr/>
          <p:nvPr/>
        </p:nvSpPr>
        <p:spPr>
          <a:xfrm>
            <a:off x="7498079" y="4160520"/>
            <a:ext cx="4142233" cy="18745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400" b="1">
                <a:solidFill>
                  <a:srgbClr val="1A1A1A"/>
                </a:solidFill>
                <a:latin typeface="맑은 고딕"/>
              </a:rPr>
              <a:t>Seasonality</a:t>
            </a:r>
          </a:p>
          <a:p>
            <a:r>
              <a:rPr sz="1800" b="1">
                <a:solidFill>
                  <a:srgbClr val="808080"/>
                </a:solidFill>
                <a:latin typeface="맑은 고딕"/>
              </a:rPr>
              <a:t>η²=5.77%</a:t>
            </a:r>
          </a:p>
          <a:p>
            <a:r>
              <a:rPr sz="1000" b="0">
                <a:solidFill>
                  <a:srgbClr val="808080"/>
                </a:solidFill>
                <a:latin typeface="맑은 고딕"/>
              </a:rPr>
              <a:t>배송 완료 월(carrier_month)에 따라 소요 시간이 달라지며, 가장 짧은 8월 148.5h 대비 가장 긴 3월 294.9h로 약 2.0배 차이가 나타나 특정 시기의 물량 집중이나 계절적 요인이 영향을 미친 것으로 보입니다.</a:t>
            </a:r>
          </a:p>
        </p:txBody>
      </p:sp>
      <p:sp>
        <p:nvSpPr>
          <p:cNvPr id="9" name="TextBox 8"/>
          <p:cNvSpPr txBox="1"/>
          <p:nvPr/>
        </p:nvSpPr>
        <p:spPr>
          <a:xfrm>
            <a:off x="548640" y="6035040"/>
            <a:ext cx="11064240" cy="731520"/>
          </a:xfrm>
          <a:prstGeom prst="rect">
            <a:avLst/>
          </a:prstGeom>
          <a:noFill/>
        </p:spPr>
        <p:txBody>
          <a:bodyPr wrap="square">
            <a:spAutoFit/>
          </a:bodyPr>
          <a:lstStyle/>
          <a:p>
            <a:r>
              <a:rPr sz="1200" b="1">
                <a:solidFill>
                  <a:srgbClr val="1A1A1A"/>
                </a:solidFill>
                <a:latin typeface="맑은 고딕"/>
              </a:rPr>
              <a:t>Carrier Delivery 단계의 지연은 주로 고객이 위치한 지역(Geography)의 영향이 가장 크며, SP와 AP 간 4.4배에 달하는 배송시간 차이가 이를 뒷받침합니다. 계절적 요인(Seasonality) 또한 3월과 8월 간 2.0배 차이를 보이며 부차적인 원인으로 작용하고 있습니다.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Root Cause Analysis — Seller Processing</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400" b="0">
                <a:solidFill>
                  <a:srgbClr val="808080"/>
                </a:solidFill>
                <a:latin typeface="맑은 고딕"/>
              </a:rPr>
              <a:t>2nd Bottleneck | Lead Time 22.6%</a:t>
            </a:r>
          </a:p>
        </p:txBody>
      </p:sp>
      <p:pic>
        <p:nvPicPr>
          <p:cNvPr id="6" name="Picture 5" descr="effect_size_seller_processing.png"/>
          <p:cNvPicPr>
            <a:picLocks noChangeAspect="1"/>
          </p:cNvPicPr>
          <p:nvPr/>
        </p:nvPicPr>
        <p:blipFill>
          <a:blip r:embed="rId2"/>
          <a:stretch>
            <a:fillRect/>
          </a:stretch>
        </p:blipFill>
        <p:spPr>
          <a:xfrm>
            <a:off x="548640" y="2103120"/>
            <a:ext cx="6400800" cy="3200400"/>
          </a:xfrm>
          <a:prstGeom prst="rect">
            <a:avLst/>
          </a:prstGeom>
        </p:spPr>
      </p:pic>
      <p:sp>
        <p:nvSpPr>
          <p:cNvPr id="7" name="Rectangle 6"/>
          <p:cNvSpPr/>
          <p:nvPr/>
        </p:nvSpPr>
        <p:spPr>
          <a:xfrm>
            <a:off x="7498079" y="2103120"/>
            <a:ext cx="4142233"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200" b="1">
                <a:solidFill>
                  <a:srgbClr val="1A1A1A"/>
                </a:solidFill>
                <a:latin typeface="맑은 고딕"/>
              </a:rPr>
              <a:t>Product Category</a:t>
            </a:r>
          </a:p>
          <a:p>
            <a:r>
              <a:rPr sz="1500" b="1">
                <a:solidFill>
                  <a:srgbClr val="808080"/>
                </a:solidFill>
                <a:latin typeface="맑은 고딕"/>
              </a:rPr>
              <a:t>η²=8.35%</a:t>
            </a:r>
          </a:p>
          <a:p>
            <a:r>
              <a:rPr sz="900" b="0">
                <a:solidFill>
                  <a:srgbClr val="808080"/>
                </a:solidFill>
                <a:latin typeface="맑은 고딕"/>
              </a:rPr>
              <a:t>제품 카테고리별 처리시간 편차가 가장 크며, cine_photo 36.2h → office_furniture 247.9h로 6.8배 차이가 나타나 카테고리 특성(조립·재고·맞춤화 여부)이 처리 지연의 핵심 요인으로 확인됩니다.</a:t>
            </a:r>
          </a:p>
        </p:txBody>
      </p:sp>
      <p:sp>
        <p:nvSpPr>
          <p:cNvPr id="8" name="Rectangle 7"/>
          <p:cNvSpPr/>
          <p:nvPr/>
        </p:nvSpPr>
        <p:spPr>
          <a:xfrm>
            <a:off x="7498079" y="3474720"/>
            <a:ext cx="4142233"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200" b="1">
                <a:solidFill>
                  <a:srgbClr val="1A1A1A"/>
                </a:solidFill>
                <a:latin typeface="맑은 고딕"/>
              </a:rPr>
              <a:t>Temporal Pattern</a:t>
            </a:r>
          </a:p>
          <a:p>
            <a:r>
              <a:rPr sz="1500" b="1">
                <a:solidFill>
                  <a:srgbClr val="808080"/>
                </a:solidFill>
                <a:latin typeface="맑은 고딕"/>
              </a:rPr>
              <a:t>η²=2.45%</a:t>
            </a:r>
          </a:p>
          <a:p>
            <a:r>
              <a:rPr sz="900" b="0">
                <a:solidFill>
                  <a:srgbClr val="808080"/>
                </a:solidFill>
                <a:latin typeface="맑은 고딕"/>
              </a:rPr>
              <a:t>요일별로는 월요일 57.3h 대비 토요일 91.8h로 1.6배 느려져, 주말 인력 감소 및 주문 적체가 처리 지연에 영향을 미치는 것으로 보입니다.</a:t>
            </a:r>
          </a:p>
        </p:txBody>
      </p:sp>
      <p:sp>
        <p:nvSpPr>
          <p:cNvPr id="9" name="Rectangle 8"/>
          <p:cNvSpPr/>
          <p:nvPr/>
        </p:nvSpPr>
        <p:spPr>
          <a:xfrm>
            <a:off x="7498079" y="4846320"/>
            <a:ext cx="4142233"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200" b="1">
                <a:solidFill>
                  <a:srgbClr val="1A1A1A"/>
                </a:solidFill>
                <a:latin typeface="맑은 고딕"/>
              </a:rPr>
              <a:t>Physical Characteristics</a:t>
            </a:r>
          </a:p>
          <a:p>
            <a:r>
              <a:rPr sz="1500" b="1">
                <a:solidFill>
                  <a:srgbClr val="808080"/>
                </a:solidFill>
                <a:latin typeface="맑은 고딕"/>
              </a:rPr>
              <a:t>η²=2.27%</a:t>
            </a:r>
          </a:p>
          <a:p>
            <a:r>
              <a:rPr sz="900" b="0">
                <a:solidFill>
                  <a:srgbClr val="808080"/>
                </a:solidFill>
                <a:latin typeface="맑은 고딕"/>
              </a:rPr>
              <a:t>상품 무게(product_weight_g)는 처리시간과 약한 양의 상관관계(effect_size_pct 2.27%)를 보여, 무거운 상품일수록 포장 및 취급에 추가 시간이 소요될 가능성이 있습니다.</a:t>
            </a:r>
          </a:p>
        </p:txBody>
      </p:sp>
      <p:sp>
        <p:nvSpPr>
          <p:cNvPr id="10" name="TextBox 9"/>
          <p:cNvSpPr txBox="1"/>
          <p:nvPr/>
        </p:nvSpPr>
        <p:spPr>
          <a:xfrm>
            <a:off x="548640" y="6035040"/>
            <a:ext cx="11064240" cy="731520"/>
          </a:xfrm>
          <a:prstGeom prst="rect">
            <a:avLst/>
          </a:prstGeom>
          <a:noFill/>
        </p:spPr>
        <p:txBody>
          <a:bodyPr wrap="square">
            <a:spAutoFit/>
          </a:bodyPr>
          <a:lstStyle/>
          <a:p>
            <a:r>
              <a:rPr sz="1200" b="1">
                <a:solidFill>
                  <a:srgbClr val="1A1A1A"/>
                </a:solidFill>
                <a:latin typeface="맑은 고딕"/>
              </a:rPr>
              <a:t>셀러 처리 단계 지연의 가장 큰 원인은 제품 카테고리 차이로, 가구류처럼 조립·맞춤이 필요한 상품이 사진용품 대비 최대 6.8배 오래 걸립니다. 요일별로는 주말(토요일) 처리 지연이 뚜렷하며, 상품 무게 또한 부차적인 영향을 미치는 것으로 나타났습니다. 종합적으로 카테고리 특성 관리와 주말 인력 운영 개선이 우선 과제로 판단됩니다.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Cause-Effect Diagrams</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cause_effect_diagram_carrier_delivery.png"/>
          <p:cNvPicPr>
            <a:picLocks noChangeAspect="1"/>
          </p:cNvPicPr>
          <p:nvPr/>
        </p:nvPicPr>
        <p:blipFill>
          <a:blip r:embed="rId2"/>
          <a:stretch>
            <a:fillRect/>
          </a:stretch>
        </p:blipFill>
        <p:spPr>
          <a:xfrm>
            <a:off x="548640" y="1645920"/>
            <a:ext cx="5408676" cy="1254314"/>
          </a:xfrm>
          <a:prstGeom prst="rect">
            <a:avLst/>
          </a:prstGeom>
        </p:spPr>
      </p:pic>
      <p:sp>
        <p:nvSpPr>
          <p:cNvPr id="6" name="TextBox 5"/>
          <p:cNvSpPr txBox="1"/>
          <p:nvPr/>
        </p:nvSpPr>
        <p:spPr>
          <a:xfrm>
            <a:off x="548640" y="2991674"/>
            <a:ext cx="5408676" cy="274320"/>
          </a:xfrm>
          <a:prstGeom prst="rect">
            <a:avLst/>
          </a:prstGeom>
          <a:noFill/>
        </p:spPr>
        <p:txBody>
          <a:bodyPr wrap="none">
            <a:spAutoFit/>
          </a:bodyPr>
          <a:lstStyle/>
          <a:p>
            <a:pPr algn="ctr"/>
            <a:r>
              <a:rPr sz="1600" b="0">
                <a:solidFill>
                  <a:srgbClr val="808080"/>
                </a:solidFill>
                <a:latin typeface="맑은 고딕"/>
              </a:rPr>
              <a:t>Carrier Delivery</a:t>
            </a:r>
          </a:p>
        </p:txBody>
      </p:sp>
      <p:pic>
        <p:nvPicPr>
          <p:cNvPr id="7" name="Picture 6" descr="cause_effect_diagram_seller_processing.png"/>
          <p:cNvPicPr>
            <a:picLocks noChangeAspect="1"/>
          </p:cNvPicPr>
          <p:nvPr/>
        </p:nvPicPr>
        <p:blipFill>
          <a:blip r:embed="rId3"/>
          <a:stretch>
            <a:fillRect/>
          </a:stretch>
        </p:blipFill>
        <p:spPr>
          <a:xfrm>
            <a:off x="6231636" y="1645920"/>
            <a:ext cx="5408676" cy="1653704"/>
          </a:xfrm>
          <a:prstGeom prst="rect">
            <a:avLst/>
          </a:prstGeom>
        </p:spPr>
      </p:pic>
      <p:sp>
        <p:nvSpPr>
          <p:cNvPr id="8" name="TextBox 7"/>
          <p:cNvSpPr txBox="1"/>
          <p:nvPr/>
        </p:nvSpPr>
        <p:spPr>
          <a:xfrm>
            <a:off x="6231636" y="3391064"/>
            <a:ext cx="5408676" cy="274320"/>
          </a:xfrm>
          <a:prstGeom prst="rect">
            <a:avLst/>
          </a:prstGeom>
          <a:noFill/>
        </p:spPr>
        <p:txBody>
          <a:bodyPr wrap="none">
            <a:spAutoFit/>
          </a:bodyPr>
          <a:lstStyle/>
          <a:p>
            <a:pPr algn="ctr"/>
            <a:r>
              <a:rPr sz="1600" b="0">
                <a:solidFill>
                  <a:srgbClr val="808080"/>
                </a:solidFill>
                <a:latin typeface="맑은 고딕"/>
              </a:rPr>
              <a:t>Seller Processing</a:t>
            </a:r>
          </a:p>
        </p:txBody>
      </p:sp>
      <p:sp>
        <p:nvSpPr>
          <p:cNvPr id="9" name="TextBox 8"/>
          <p:cNvSpPr txBox="1"/>
          <p:nvPr/>
        </p:nvSpPr>
        <p:spPr>
          <a:xfrm>
            <a:off x="548640" y="6309360"/>
            <a:ext cx="10972800" cy="365760"/>
          </a:xfrm>
          <a:prstGeom prst="rect">
            <a:avLst/>
          </a:prstGeom>
          <a:noFill/>
        </p:spPr>
        <p:txBody>
          <a:bodyPr wrap="square">
            <a:spAutoFit/>
          </a:bodyPr>
          <a:lstStyle/>
          <a:p>
            <a:r>
              <a:rPr sz="1000" b="0">
                <a:solidFill>
                  <a:srgbClr val="808080"/>
                </a:solidFill>
                <a:latin typeface="맑은 고딕"/>
              </a:rPr>
              <a:t>※ 카테고리와 η²는 ④단계 계산값. 각 카테고리 아래의 세부 원인(details)은 LLM이 도메인 지식으로 생성한 가설이며 이 데이터로 검증되지 않았음. 인과 판단이 필요한 산출물은 자동화 대상에서 제외한다는 원칙에 따라 검증 없이 게시함.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Impact Score Ranking</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400" b="0">
                <a:solidFill>
                  <a:srgbClr val="808080"/>
                </a:solidFill>
                <a:latin typeface="맑은 고딕"/>
              </a:rPr>
              <a:t>전체 후보 — Effect Size(원인의 설명력) + Impact Score(개선 시 기대 효과)</a:t>
            </a:r>
          </a:p>
        </p:txBody>
      </p:sp>
      <p:graphicFrame>
        <p:nvGraphicFramePr>
          <p:cNvPr id="6" name="Table 5"/>
          <p:cNvGraphicFramePr>
            <a:graphicFrameLocks noGrp="1"/>
          </p:cNvGraphicFramePr>
          <p:nvPr/>
        </p:nvGraphicFramePr>
        <p:xfrm>
          <a:off x="548640" y="2103120"/>
          <a:ext cx="11091672" cy="2560320"/>
        </p:xfrm>
        <a:graphic>
          <a:graphicData uri="http://schemas.openxmlformats.org/drawingml/2006/table">
            <a:tbl>
              <a:tblPr>
                <a:tableStyleId>{5C22544A-7EE6-4342-B048-85BDC9FD1C3A}</a:tableStyleId>
              </a:tblPr>
              <a:tblGrid>
                <a:gridCol w="2772918"/>
                <a:gridCol w="2772918"/>
                <a:gridCol w="2772918"/>
                <a:gridCol w="2772918"/>
              </a:tblGrid>
              <a:tr h="365760">
                <a:tc>
                  <a:txBody>
                    <a:bodyPr/>
                    <a:lstStyle/>
                    <a:p>
                      <a:r>
                        <a:rPr sz="1300" b="1">
                          <a:solidFill>
                            <a:srgbClr val="1A1A1A"/>
                          </a:solidFill>
                          <a:latin typeface="맑은 고딕"/>
                        </a:rPr>
                        <a:t>Scenario</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Orders</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Effect Size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Impact Score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r>
              <a:tr h="365760">
                <a:tc>
                  <a:txBody>
                    <a:bodyPr/>
                    <a:lstStyle/>
                    <a:p>
                      <a:r>
                        <a:rPr sz="1200" b="0">
                          <a:solidFill>
                            <a:srgbClr val="1A1A1A"/>
                          </a:solidFill>
                          <a:latin typeface="맑은 고딕"/>
                        </a:rPr>
                        <a:t>고객 주(州) = RJ</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12,210건</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788,027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배송 월 = 3월</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9,706건</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740,331</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배송 월 = 2월</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7,966건</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571,326</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고객 주(州) = BA</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3,210건</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515,586</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배송 월 = 12월</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6,016건</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380,005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고객 주(州) = RS</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5,260건</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349,653</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bl>
          </a:graphicData>
        </a:graphic>
      </p:graphicFrame>
      <p:sp>
        <p:nvSpPr>
          <p:cNvPr id="7" name="TextBox 6"/>
          <p:cNvSpPr txBox="1"/>
          <p:nvPr/>
        </p:nvSpPr>
        <p:spPr>
          <a:xfrm>
            <a:off x="548640" y="5943600"/>
            <a:ext cx="10972800" cy="457200"/>
          </a:xfrm>
          <a:prstGeom prst="rect">
            <a:avLst/>
          </a:prstGeom>
          <a:noFill/>
        </p:spPr>
        <p:txBody>
          <a:bodyPr wrap="none">
            <a:spAutoFit/>
          </a:bodyPr>
          <a:lstStyle/>
          <a:p>
            <a:r>
              <a:rPr sz="1300" b="1">
                <a:solidFill>
                  <a:srgbClr val="1A1A1A"/>
                </a:solidFill>
                <a:latin typeface="맑은 고딕"/>
              </a:rPr>
              <a:t>Root Cause의 설명력(Effect Size)과 Business Impact(Impact Score)는 다른 질문에 답한다</a:t>
            </a:r>
          </a:p>
        </p:txBody>
      </p:sp>
      <p:sp>
        <p:nvSpPr>
          <p:cNvPr id="8" name="TextBox 7"/>
          <p:cNvSpPr txBox="1"/>
          <p:nvPr/>
        </p:nvSpPr>
        <p:spPr>
          <a:xfrm>
            <a:off x="548640" y="6355080"/>
            <a:ext cx="10972800" cy="365760"/>
          </a:xfrm>
          <a:prstGeom prst="rect">
            <a:avLst/>
          </a:prstGeom>
          <a:noFill/>
        </p:spPr>
        <p:txBody>
          <a:bodyPr wrap="square">
            <a:spAutoFit/>
          </a:bodyPr>
          <a:lstStyle/>
          <a:p>
            <a:r>
              <a:rPr sz="1000" b="0">
                <a:solidFill>
                  <a:srgbClr val="808080"/>
                </a:solidFill>
                <a:latin typeface="맑은 고딕"/>
              </a:rPr>
              <a:t>※ Impact Score = (그룹 평균 − 전체 평균) × 주문 건수. 개선 우선순위 지표이며 실제 절감 시간이 아님. 지연율 변화 시뮬레이션은 검증되지 않은 가정에 기반하므로 의도적으로 수행하지 않음.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Recommended Scenarios</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11091672" cy="1828800"/>
        </p:xfrm>
        <a:graphic>
          <a:graphicData uri="http://schemas.openxmlformats.org/drawingml/2006/table">
            <a:tbl>
              <a:tblPr>
                <a:tableStyleId>{5C22544A-7EE6-4342-B048-85BDC9FD1C3A}</a:tableStyleId>
              </a:tblPr>
              <a:tblGrid>
                <a:gridCol w="2772918"/>
                <a:gridCol w="2772918"/>
                <a:gridCol w="2772918"/>
                <a:gridCol w="2772918"/>
              </a:tblGrid>
              <a:tr h="365760">
                <a:tc>
                  <a:txBody>
                    <a:bodyPr/>
                    <a:lstStyle/>
                    <a:p>
                      <a:r>
                        <a:rPr sz="1300" b="1">
                          <a:solidFill>
                            <a:srgbClr val="1A1A1A"/>
                          </a:solidFill>
                          <a:latin typeface="맑은 고딕"/>
                        </a:rPr>
                        <a:t>ID</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Title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Effect Size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c>
                  <a:txBody>
                    <a:bodyPr/>
                    <a:lstStyle/>
                    <a:p>
                      <a:r>
                        <a:rPr sz="1300" b="1">
                          <a:solidFill>
                            <a:srgbClr val="1A1A1A"/>
                          </a:solidFill>
                          <a:latin typeface="맑은 고딕"/>
                        </a:rPr>
                        <a:t>Impact Score</a:t>
                      </a:r>
                    </a:p>
                  </a:txBody>
                  <a:tcPr>
                    <a:lnL w="9525">
                      <a:solidFill>
                        <a:srgbClr val="CCCCCC"/>
                      </a:solidFill>
                    </a:lnL>
                    <a:lnR w="9525">
                      <a:solidFill>
                        <a:srgbClr val="CCCCCC"/>
                      </a:solidFill>
                    </a:lnR>
                    <a:lnT w="9525">
                      <a:solidFill>
                        <a:srgbClr val="CCCCCC"/>
                      </a:solidFill>
                    </a:lnT>
                    <a:lnB w="9525">
                      <a:solidFill>
                        <a:srgbClr val="CCCCCC"/>
                      </a:solidFill>
                    </a:lnB>
                    <a:solidFill>
                      <a:srgbClr val="F2F2F2"/>
                    </a:solidFill>
                  </a:tcPr>
                </a:tc>
              </a:tr>
              <a:tr h="365760">
                <a:tc>
                  <a:txBody>
                    <a:bodyPr/>
                    <a:lstStyle/>
                    <a:p>
                      <a:r>
                        <a:rPr sz="1200" b="0">
                          <a:solidFill>
                            <a:srgbClr val="1A1A1A"/>
                          </a:solidFill>
                          <a:latin typeface="맑은 고딕"/>
                        </a:rPr>
                        <a:t>S1</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RJ Carrier Delivery Time Reduction</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20.19%</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788,027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S2</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Office Furniture Processing Time Improvement</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8.35%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295,903</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S3</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Carnival Season Carrier Delay Mitigation</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5.77%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1,311,657</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r h="365760">
                <a:tc>
                  <a:txBody>
                    <a:bodyPr/>
                    <a:lstStyle/>
                    <a:p>
                      <a:r>
                        <a:rPr sz="1200" b="0">
                          <a:solidFill>
                            <a:srgbClr val="1A1A1A"/>
                          </a:solidFill>
                          <a:latin typeface="맑은 고딕"/>
                        </a:rPr>
                        <a:t>S4</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End-of-Week Seller Processing Delay Reduction</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2.45%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c>
                  <a:txBody>
                    <a:bodyPr/>
                    <a:lstStyle/>
                    <a:p>
                      <a:r>
                        <a:rPr sz="1200" b="0">
                          <a:solidFill>
                            <a:srgbClr val="1A1A1A"/>
                          </a:solidFill>
                          <a:latin typeface="맑은 고딕"/>
                        </a:rPr>
                        <a:t>519,915</a:t>
                      </a:r>
                    </a:p>
                  </a:txBody>
                  <a:tcPr>
                    <a:lnL w="9525">
                      <a:solidFill>
                        <a:srgbClr val="CCCCCC"/>
                      </a:solidFill>
                    </a:lnL>
                    <a:lnR w="9525">
                      <a:solidFill>
                        <a:srgbClr val="CCCCCC"/>
                      </a:solidFill>
                    </a:lnR>
                    <a:lnT w="9525">
                      <a:solidFill>
                        <a:srgbClr val="CCCCCC"/>
                      </a:solidFill>
                    </a:lnT>
                    <a:lnB w="9525">
                      <a:solidFill>
                        <a:srgbClr val="CCCCCC"/>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A/B Test Design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0972800" cy="365760"/>
          </a:xfrm>
          <a:prstGeom prst="rect">
            <a:avLst/>
          </a:prstGeom>
          <a:noFill/>
        </p:spPr>
        <p:txBody>
          <a:bodyPr wrap="none">
            <a:spAutoFit/>
          </a:bodyPr>
          <a:lstStyle/>
          <a:p>
            <a:r>
              <a:rPr sz="1600" b="1">
                <a:solidFill>
                  <a:srgbClr val="1A1A1A"/>
                </a:solidFill>
                <a:latin typeface="맑은 고딕"/>
              </a:rPr>
              <a:t>S1: RJ Carrier Delivery Time Reduction</a:t>
            </a:r>
          </a:p>
        </p:txBody>
      </p:sp>
      <p:sp>
        <p:nvSpPr>
          <p:cNvPr id="6" name="TextBox 5"/>
          <p:cNvSpPr txBox="1"/>
          <p:nvPr/>
        </p:nvSpPr>
        <p:spPr>
          <a:xfrm>
            <a:off x="548640" y="2194560"/>
            <a:ext cx="5303520" cy="640080"/>
          </a:xfrm>
          <a:prstGeom prst="rect">
            <a:avLst/>
          </a:prstGeom>
          <a:noFill/>
        </p:spPr>
        <p:txBody>
          <a:bodyPr wrap="square">
            <a:spAutoFit/>
          </a:bodyPr>
          <a:lstStyle/>
          <a:p>
            <a:r>
              <a:rPr sz="1200" b="1">
                <a:solidFill>
                  <a:srgbClr val="808080"/>
                </a:solidFill>
                <a:latin typeface="맑은 고딕"/>
              </a:rPr>
              <a:t>Primary Metric</a:t>
            </a:r>
          </a:p>
          <a:p>
            <a:r>
              <a:rPr sz="1500" b="1">
                <a:solidFill>
                  <a:srgbClr val="1A1A1A"/>
                </a:solidFill>
                <a:latin typeface="맑은 고딕"/>
              </a:rPr>
              <a:t>Carrier Delivery (days)</a:t>
            </a:r>
          </a:p>
        </p:txBody>
      </p:sp>
      <p:sp>
        <p:nvSpPr>
          <p:cNvPr id="7" name="TextBox 6"/>
          <p:cNvSpPr txBox="1"/>
          <p:nvPr/>
        </p:nvSpPr>
        <p:spPr>
          <a:xfrm>
            <a:off x="548640" y="2880360"/>
            <a:ext cx="5303520" cy="640080"/>
          </a:xfrm>
          <a:prstGeom prst="rect">
            <a:avLst/>
          </a:prstGeom>
          <a:noFill/>
        </p:spPr>
        <p:txBody>
          <a:bodyPr wrap="square">
            <a:spAutoFit/>
          </a:bodyPr>
          <a:lstStyle/>
          <a:p>
            <a:r>
              <a:rPr sz="1200" b="1">
                <a:solidFill>
                  <a:srgbClr val="808080"/>
                </a:solidFill>
                <a:latin typeface="맑은 고딕"/>
              </a:rPr>
              <a:t>Baseline</a:t>
            </a:r>
          </a:p>
          <a:p>
            <a:r>
              <a:rPr sz="1500" b="1">
                <a:solidFill>
                  <a:srgbClr val="1A1A1A"/>
                </a:solidFill>
                <a:latin typeface="맑은 고딕"/>
              </a:rPr>
              <a:t>12.05 days (RJ 기준)</a:t>
            </a:r>
          </a:p>
        </p:txBody>
      </p:sp>
      <p:sp>
        <p:nvSpPr>
          <p:cNvPr id="8" name="TextBox 7"/>
          <p:cNvSpPr txBox="1"/>
          <p:nvPr/>
        </p:nvSpPr>
        <p:spPr>
          <a:xfrm>
            <a:off x="548640" y="3566160"/>
            <a:ext cx="5303520" cy="640080"/>
          </a:xfrm>
          <a:prstGeom prst="rect">
            <a:avLst/>
          </a:prstGeom>
          <a:noFill/>
        </p:spPr>
        <p:txBody>
          <a:bodyPr wrap="square">
            <a:spAutoFit/>
          </a:bodyPr>
          <a:lstStyle/>
          <a:p>
            <a:r>
              <a:rPr sz="1200" b="1">
                <a:solidFill>
                  <a:srgbClr val="808080"/>
                </a:solidFill>
                <a:latin typeface="맑은 고딕"/>
              </a:rPr>
              <a:t>MDE</a:t>
            </a:r>
          </a:p>
          <a:p>
            <a:r>
              <a:rPr sz="1500" b="1">
                <a:solidFill>
                  <a:srgbClr val="1A1A1A"/>
                </a:solidFill>
                <a:latin typeface="맑은 고딕"/>
              </a:rPr>
              <a:t>1.0 days → Target 11.05 days (상대 8.3%)</a:t>
            </a:r>
          </a:p>
        </p:txBody>
      </p:sp>
      <p:sp>
        <p:nvSpPr>
          <p:cNvPr id="9" name="TextBox 8"/>
          <p:cNvSpPr txBox="1"/>
          <p:nvPr/>
        </p:nvSpPr>
        <p:spPr>
          <a:xfrm>
            <a:off x="548640" y="4251960"/>
            <a:ext cx="5303520" cy="640080"/>
          </a:xfrm>
          <a:prstGeom prst="rect">
            <a:avLst/>
          </a:prstGeom>
          <a:noFill/>
        </p:spPr>
        <p:txBody>
          <a:bodyPr wrap="square">
            <a:spAutoFit/>
          </a:bodyPr>
          <a:lstStyle/>
          <a:p>
            <a:r>
              <a:rPr sz="1200" b="1">
                <a:solidFill>
                  <a:srgbClr val="808080"/>
                </a:solidFill>
                <a:latin typeface="맑은 고딕"/>
              </a:rPr>
              <a:t>Alpha / Power</a:t>
            </a:r>
          </a:p>
          <a:p>
            <a:r>
              <a:rPr sz="1500" b="1">
                <a:solidFill>
                  <a:srgbClr val="1A1A1A"/>
                </a:solidFill>
                <a:latin typeface="맑은 고딕"/>
              </a:rPr>
              <a:t>α=0.05 / Power=0.8 (two-sided)</a:t>
            </a:r>
          </a:p>
        </p:txBody>
      </p:sp>
      <p:sp>
        <p:nvSpPr>
          <p:cNvPr id="10" name="TextBox 9"/>
          <p:cNvSpPr txBox="1"/>
          <p:nvPr/>
        </p:nvSpPr>
        <p:spPr>
          <a:xfrm>
            <a:off x="548640" y="4937760"/>
            <a:ext cx="5303520" cy="640080"/>
          </a:xfrm>
          <a:prstGeom prst="rect">
            <a:avLst/>
          </a:prstGeom>
          <a:noFill/>
        </p:spPr>
        <p:txBody>
          <a:bodyPr wrap="square">
            <a:spAutoFit/>
          </a:bodyPr>
          <a:lstStyle/>
          <a:p>
            <a:r>
              <a:rPr sz="1200" b="1">
                <a:solidFill>
                  <a:srgbClr val="808080"/>
                </a:solidFill>
                <a:latin typeface="맑은 고딕"/>
              </a:rPr>
              <a:t>Sample Size</a:t>
            </a:r>
          </a:p>
          <a:p>
            <a:r>
              <a:rPr sz="1500" b="1">
                <a:solidFill>
                  <a:srgbClr val="1A1A1A"/>
                </a:solidFill>
                <a:latin typeface="맑은 고딕"/>
              </a:rPr>
              <a:t>3,636건 (그룹당 1,818건)</a:t>
            </a:r>
          </a:p>
        </p:txBody>
      </p:sp>
      <p:sp>
        <p:nvSpPr>
          <p:cNvPr id="11" name="TextBox 10"/>
          <p:cNvSpPr txBox="1"/>
          <p:nvPr/>
        </p:nvSpPr>
        <p:spPr>
          <a:xfrm>
            <a:off x="548640" y="5623560"/>
            <a:ext cx="5303520" cy="640080"/>
          </a:xfrm>
          <a:prstGeom prst="rect">
            <a:avLst/>
          </a:prstGeom>
          <a:noFill/>
        </p:spPr>
        <p:txBody>
          <a:bodyPr wrap="square">
            <a:spAutoFit/>
          </a:bodyPr>
          <a:lstStyle/>
          <a:p>
            <a:r>
              <a:rPr sz="1200" b="1">
                <a:solidFill>
                  <a:srgbClr val="808080"/>
                </a:solidFill>
                <a:latin typeface="맑은 고딕"/>
              </a:rPr>
              <a:t>Experiment Unit</a:t>
            </a:r>
          </a:p>
          <a:p>
            <a:r>
              <a:rPr sz="1500" b="1">
                <a:solidFill>
                  <a:srgbClr val="1A1A1A"/>
                </a:solidFill>
                <a:latin typeface="맑은 고딕"/>
              </a:rPr>
              <a:t>order (Design Effect 1.0)</a:t>
            </a:r>
          </a:p>
        </p:txBody>
      </p:sp>
      <p:sp>
        <p:nvSpPr>
          <p:cNvPr id="12" name="TextBox 11"/>
          <p:cNvSpPr txBox="1"/>
          <p:nvPr/>
        </p:nvSpPr>
        <p:spPr>
          <a:xfrm>
            <a:off x="6336792" y="2194560"/>
            <a:ext cx="5303520" cy="640080"/>
          </a:xfrm>
          <a:prstGeom prst="rect">
            <a:avLst/>
          </a:prstGeom>
          <a:noFill/>
        </p:spPr>
        <p:txBody>
          <a:bodyPr wrap="square">
            <a:spAutoFit/>
          </a:bodyPr>
          <a:lstStyle/>
          <a:p>
            <a:r>
              <a:rPr sz="1200" b="1">
                <a:solidFill>
                  <a:srgbClr val="808080"/>
                </a:solidFill>
                <a:latin typeface="맑은 고딕"/>
              </a:rPr>
              <a:t>Treatment</a:t>
            </a:r>
          </a:p>
          <a:p>
            <a:r>
              <a:rPr sz="1400" b="0">
                <a:solidFill>
                  <a:srgbClr val="1A1A1A"/>
                </a:solidFill>
                <a:latin typeface="맑은 고딕"/>
              </a:rPr>
              <a:t>RJ향 주문을 전담 배차 라인으로 전환</a:t>
            </a:r>
          </a:p>
        </p:txBody>
      </p:sp>
      <p:sp>
        <p:nvSpPr>
          <p:cNvPr id="13" name="TextBox 12"/>
          <p:cNvSpPr txBox="1"/>
          <p:nvPr/>
        </p:nvSpPr>
        <p:spPr>
          <a:xfrm>
            <a:off x="6336792" y="2880360"/>
            <a:ext cx="5303520" cy="640080"/>
          </a:xfrm>
          <a:prstGeom prst="rect">
            <a:avLst/>
          </a:prstGeom>
          <a:noFill/>
        </p:spPr>
        <p:txBody>
          <a:bodyPr wrap="square">
            <a:spAutoFit/>
          </a:bodyPr>
          <a:lstStyle/>
          <a:p>
            <a:r>
              <a:rPr sz="1200" b="1">
                <a:solidFill>
                  <a:srgbClr val="808080"/>
                </a:solidFill>
                <a:latin typeface="맑은 고딕"/>
              </a:rPr>
              <a:t>Control</a:t>
            </a:r>
          </a:p>
          <a:p>
            <a:r>
              <a:rPr sz="1400" b="0">
                <a:solidFill>
                  <a:srgbClr val="1A1A1A"/>
                </a:solidFill>
                <a:latin typeface="맑은 고딕"/>
              </a:rPr>
              <a:t>기존 배차 프로세스 유지</a:t>
            </a:r>
          </a:p>
        </p:txBody>
      </p:sp>
      <p:sp>
        <p:nvSpPr>
          <p:cNvPr id="14" name="TextBox 13"/>
          <p:cNvSpPr txBox="1"/>
          <p:nvPr/>
        </p:nvSpPr>
        <p:spPr>
          <a:xfrm>
            <a:off x="6336792" y="3749040"/>
            <a:ext cx="5303520" cy="365760"/>
          </a:xfrm>
          <a:prstGeom prst="rect">
            <a:avLst/>
          </a:prstGeom>
          <a:noFill/>
        </p:spPr>
        <p:txBody>
          <a:bodyPr wrap="none">
            <a:spAutoFit/>
          </a:bodyPr>
          <a:lstStyle/>
          <a:p>
            <a:r>
              <a:rPr sz="1200" b="1">
                <a:solidFill>
                  <a:srgbClr val="808080"/>
                </a:solidFill>
                <a:latin typeface="맑은 고딕"/>
              </a:rPr>
              <a:t>Success Criteria</a:t>
            </a:r>
          </a:p>
        </p:txBody>
      </p:sp>
      <p:sp>
        <p:nvSpPr>
          <p:cNvPr id="15" name="TextBox 14"/>
          <p:cNvSpPr txBox="1"/>
          <p:nvPr/>
        </p:nvSpPr>
        <p:spPr>
          <a:xfrm>
            <a:off x="6336792" y="4114800"/>
            <a:ext cx="5303520" cy="1828800"/>
          </a:xfrm>
          <a:prstGeom prst="rect">
            <a:avLst/>
          </a:prstGeom>
          <a:noFill/>
        </p:spPr>
        <p:txBody>
          <a:bodyPr wrap="square">
            <a:spAutoFit/>
          </a:bodyPr>
          <a:lstStyle/>
          <a:p>
            <a:pPr>
              <a:spcAft>
                <a:spcPts val="600"/>
              </a:spcAft>
            </a:pPr>
            <a:r>
              <a:rPr sz="1200" b="0">
                <a:solidFill>
                  <a:srgbClr val="1A1A1A"/>
                </a:solidFill>
                <a:latin typeface="맑은 고딕"/>
              </a:rPr>
              <a:t>✓  Primary Metric (Carrier Delivery Time)이 MDE 이상 감소</a:t>
            </a:r>
          </a:p>
          <a:p>
            <a:pPr>
              <a:spcAft>
                <a:spcPts val="600"/>
              </a:spcAft>
            </a:pPr>
            <a:r>
              <a:rPr sz="1200" b="0">
                <a:solidFill>
                  <a:srgbClr val="1A1A1A"/>
                </a:solidFill>
                <a:latin typeface="맑은 고딕"/>
              </a:rPr>
              <a:t>✓  p_value &lt; 0.05</a:t>
            </a:r>
          </a:p>
          <a:p>
            <a:pPr>
              <a:spcAft>
                <a:spcPts val="600"/>
              </a:spcAft>
            </a:pPr>
            <a:r>
              <a:rPr sz="1200" b="0">
                <a:solidFill>
                  <a:srgbClr val="1A1A1A"/>
                </a:solidFill>
                <a:latin typeface="맑은 고딕"/>
              </a:rPr>
              <a:t>✓  Secondary Metric (Delivery Delay Rate) 감소</a:t>
            </a:r>
          </a:p>
          <a:p>
            <a:pPr>
              <a:spcAft>
                <a:spcPts val="600"/>
              </a:spcAft>
            </a:pPr>
            <a:r>
              <a:rPr sz="1200" b="0">
                <a:solidFill>
                  <a:srgbClr val="1A1A1A"/>
                </a:solidFill>
                <a:latin typeface="맑은 고딕"/>
              </a:rPr>
              <a:t>✓  Guardrail Metric 악화 없음 (비열등성 검정)</a:t>
            </a:r>
          </a:p>
        </p:txBody>
      </p:sp>
      <p:sp>
        <p:nvSpPr>
          <p:cNvPr id="16" name="TextBox 15"/>
          <p:cNvSpPr txBox="1"/>
          <p:nvPr/>
        </p:nvSpPr>
        <p:spPr>
          <a:xfrm>
            <a:off x="548640" y="6309360"/>
            <a:ext cx="10972800" cy="365760"/>
          </a:xfrm>
          <a:prstGeom prst="rect">
            <a:avLst/>
          </a:prstGeom>
          <a:noFill/>
        </p:spPr>
        <p:txBody>
          <a:bodyPr wrap="square">
            <a:spAutoFit/>
          </a:bodyPr>
          <a:lstStyle/>
          <a:p>
            <a:r>
              <a:rPr sz="1000" b="0">
                <a:solidFill>
                  <a:srgbClr val="808080"/>
                </a:solidFill>
                <a:latin typeface="맑은 고딕"/>
              </a:rPr>
              <a:t>실행 가능성 판정: feasible — 예상 기간 206일로 임계값 365일 이내이다. (대상 트래픽 하루 17.6건 기준)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Implementation Roadmap</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 y="1920240"/>
            <a:ext cx="10543032" cy="0"/>
          </a:xfrm>
          <a:prstGeom prst="line">
            <a:avLst/>
          </a:prstGeom>
          <a:ln w="1905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548640" y="1645920"/>
            <a:ext cx="548640" cy="548640"/>
          </a:xfrm>
          <a:prstGeom prst="ellipse">
            <a:avLst/>
          </a:prstGeom>
          <a:solidFill>
            <a:srgbClr val="1A1A1A"/>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맑은 고딕"/>
              </a:rPr>
              <a:t>1</a:t>
            </a:r>
          </a:p>
        </p:txBody>
      </p:sp>
      <p:sp>
        <p:nvSpPr>
          <p:cNvPr id="7" name="TextBox 6"/>
          <p:cNvSpPr txBox="1"/>
          <p:nvPr/>
        </p:nvSpPr>
        <p:spPr>
          <a:xfrm>
            <a:off x="548640" y="2377440"/>
            <a:ext cx="2498598" cy="365760"/>
          </a:xfrm>
          <a:prstGeom prst="rect">
            <a:avLst/>
          </a:prstGeom>
          <a:noFill/>
        </p:spPr>
        <p:txBody>
          <a:bodyPr wrap="none">
            <a:spAutoFit/>
          </a:bodyPr>
          <a:lstStyle/>
          <a:p>
            <a:r>
              <a:rPr sz="1400" b="1">
                <a:solidFill>
                  <a:srgbClr val="1A1A1A"/>
                </a:solidFill>
                <a:latin typeface="맑은 고딕"/>
              </a:rPr>
              <a:t>Analysis Complete</a:t>
            </a:r>
          </a:p>
        </p:txBody>
      </p:sp>
      <p:sp>
        <p:nvSpPr>
          <p:cNvPr id="8" name="TextBox 7"/>
          <p:cNvSpPr txBox="1"/>
          <p:nvPr/>
        </p:nvSpPr>
        <p:spPr>
          <a:xfrm>
            <a:off x="548640" y="2743200"/>
            <a:ext cx="2498598" cy="274320"/>
          </a:xfrm>
          <a:prstGeom prst="rect">
            <a:avLst/>
          </a:prstGeom>
          <a:noFill/>
        </p:spPr>
        <p:txBody>
          <a:bodyPr wrap="none">
            <a:spAutoFit/>
          </a:bodyPr>
          <a:lstStyle/>
          <a:p>
            <a:r>
              <a:rPr sz="1100" b="0">
                <a:solidFill>
                  <a:srgbClr val="808080"/>
                </a:solidFill>
                <a:latin typeface="맑은 고딕"/>
              </a:rPr>
              <a:t>Done</a:t>
            </a:r>
          </a:p>
        </p:txBody>
      </p:sp>
      <p:sp>
        <p:nvSpPr>
          <p:cNvPr id="9" name="TextBox 8"/>
          <p:cNvSpPr txBox="1"/>
          <p:nvPr/>
        </p:nvSpPr>
        <p:spPr>
          <a:xfrm>
            <a:off x="548640" y="3108960"/>
            <a:ext cx="2498598" cy="731520"/>
          </a:xfrm>
          <a:prstGeom prst="rect">
            <a:avLst/>
          </a:prstGeom>
          <a:noFill/>
        </p:spPr>
        <p:txBody>
          <a:bodyPr wrap="square">
            <a:spAutoFit/>
          </a:bodyPr>
          <a:lstStyle/>
          <a:p>
            <a:r>
              <a:rPr sz="1100" b="0">
                <a:solidFill>
                  <a:srgbClr val="808080"/>
                </a:solidFill>
                <a:latin typeface="맑은 고딕"/>
              </a:rPr>
              <a:t>1~8단계 분석 완료</a:t>
            </a:r>
          </a:p>
        </p:txBody>
      </p:sp>
      <p:sp>
        <p:nvSpPr>
          <p:cNvPr id="10" name="Oval 9"/>
          <p:cNvSpPr/>
          <p:nvPr/>
        </p:nvSpPr>
        <p:spPr>
          <a:xfrm>
            <a:off x="3412998" y="1645920"/>
            <a:ext cx="548640" cy="548640"/>
          </a:xfrm>
          <a:prstGeom prst="ellipse">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A1A1A"/>
                </a:solidFill>
                <a:latin typeface="맑은 고딕"/>
              </a:rPr>
              <a:t>2</a:t>
            </a:r>
          </a:p>
        </p:txBody>
      </p:sp>
      <p:sp>
        <p:nvSpPr>
          <p:cNvPr id="11" name="TextBox 10"/>
          <p:cNvSpPr txBox="1"/>
          <p:nvPr/>
        </p:nvSpPr>
        <p:spPr>
          <a:xfrm>
            <a:off x="3412998" y="2377440"/>
            <a:ext cx="2498598" cy="365760"/>
          </a:xfrm>
          <a:prstGeom prst="rect">
            <a:avLst/>
          </a:prstGeom>
          <a:noFill/>
        </p:spPr>
        <p:txBody>
          <a:bodyPr wrap="none">
            <a:spAutoFit/>
          </a:bodyPr>
          <a:lstStyle/>
          <a:p>
            <a:r>
              <a:rPr sz="1400" b="1">
                <a:solidFill>
                  <a:srgbClr val="1A1A1A"/>
                </a:solidFill>
                <a:latin typeface="맑은 고딕"/>
              </a:rPr>
              <a:t>A/B Test</a:t>
            </a:r>
          </a:p>
        </p:txBody>
      </p:sp>
      <p:sp>
        <p:nvSpPr>
          <p:cNvPr id="12" name="TextBox 11"/>
          <p:cNvSpPr txBox="1"/>
          <p:nvPr/>
        </p:nvSpPr>
        <p:spPr>
          <a:xfrm>
            <a:off x="3412998" y="2743200"/>
            <a:ext cx="2498598" cy="274320"/>
          </a:xfrm>
          <a:prstGeom prst="rect">
            <a:avLst/>
          </a:prstGeom>
          <a:noFill/>
        </p:spPr>
        <p:txBody>
          <a:bodyPr wrap="none">
            <a:spAutoFit/>
          </a:bodyPr>
          <a:lstStyle/>
          <a:p>
            <a:r>
              <a:rPr sz="1100" b="0">
                <a:solidFill>
                  <a:srgbClr val="808080"/>
                </a:solidFill>
                <a:latin typeface="맑은 고딕"/>
              </a:rPr>
              <a:t>Next</a:t>
            </a:r>
          </a:p>
        </p:txBody>
      </p:sp>
      <p:sp>
        <p:nvSpPr>
          <p:cNvPr id="13" name="TextBox 12"/>
          <p:cNvSpPr txBox="1"/>
          <p:nvPr/>
        </p:nvSpPr>
        <p:spPr>
          <a:xfrm>
            <a:off x="3412998" y="3108960"/>
            <a:ext cx="2498598" cy="731520"/>
          </a:xfrm>
          <a:prstGeom prst="rect">
            <a:avLst/>
          </a:prstGeom>
          <a:noFill/>
        </p:spPr>
        <p:txBody>
          <a:bodyPr wrap="square">
            <a:spAutoFit/>
          </a:bodyPr>
          <a:lstStyle/>
          <a:p>
            <a:r>
              <a:rPr sz="1100" b="0">
                <a:solidFill>
                  <a:srgbClr val="808080"/>
                </a:solidFill>
                <a:latin typeface="맑은 고딕"/>
              </a:rPr>
              <a:t>1순위 시나리오 실험 설계</a:t>
            </a:r>
          </a:p>
        </p:txBody>
      </p:sp>
      <p:sp>
        <p:nvSpPr>
          <p:cNvPr id="14" name="Oval 13"/>
          <p:cNvSpPr/>
          <p:nvPr/>
        </p:nvSpPr>
        <p:spPr>
          <a:xfrm>
            <a:off x="6277356" y="1645920"/>
            <a:ext cx="548640" cy="548640"/>
          </a:xfrm>
          <a:prstGeom prst="ellipse">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A1A1A"/>
                </a:solidFill>
                <a:latin typeface="맑은 고딕"/>
              </a:rPr>
              <a:t>3</a:t>
            </a:r>
          </a:p>
        </p:txBody>
      </p:sp>
      <p:sp>
        <p:nvSpPr>
          <p:cNvPr id="15" name="TextBox 14"/>
          <p:cNvSpPr txBox="1"/>
          <p:nvPr/>
        </p:nvSpPr>
        <p:spPr>
          <a:xfrm>
            <a:off x="6277356" y="2377440"/>
            <a:ext cx="2498598" cy="365760"/>
          </a:xfrm>
          <a:prstGeom prst="rect">
            <a:avLst/>
          </a:prstGeom>
          <a:noFill/>
        </p:spPr>
        <p:txBody>
          <a:bodyPr wrap="none">
            <a:spAutoFit/>
          </a:bodyPr>
          <a:lstStyle/>
          <a:p>
            <a:r>
              <a:rPr sz="1400" b="1">
                <a:solidFill>
                  <a:srgbClr val="1A1A1A"/>
                </a:solidFill>
                <a:latin typeface="맑은 고딕"/>
              </a:rPr>
              <a:t>Validation</a:t>
            </a:r>
          </a:p>
        </p:txBody>
      </p:sp>
      <p:sp>
        <p:nvSpPr>
          <p:cNvPr id="16" name="TextBox 15"/>
          <p:cNvSpPr txBox="1"/>
          <p:nvPr/>
        </p:nvSpPr>
        <p:spPr>
          <a:xfrm>
            <a:off x="6277356" y="2743200"/>
            <a:ext cx="2498598" cy="274320"/>
          </a:xfrm>
          <a:prstGeom prst="rect">
            <a:avLst/>
          </a:prstGeom>
          <a:noFill/>
        </p:spPr>
        <p:txBody>
          <a:bodyPr wrap="none">
            <a:spAutoFit/>
          </a:bodyPr>
          <a:lstStyle/>
          <a:p>
            <a:r>
              <a:rPr sz="1100" b="0">
                <a:solidFill>
                  <a:srgbClr val="808080"/>
                </a:solidFill>
                <a:latin typeface="맑은 고딕"/>
              </a:rPr>
              <a:t>Pending</a:t>
            </a:r>
          </a:p>
        </p:txBody>
      </p:sp>
      <p:sp>
        <p:nvSpPr>
          <p:cNvPr id="17" name="TextBox 16"/>
          <p:cNvSpPr txBox="1"/>
          <p:nvPr/>
        </p:nvSpPr>
        <p:spPr>
          <a:xfrm>
            <a:off x="6277356" y="3108960"/>
            <a:ext cx="2498598" cy="731520"/>
          </a:xfrm>
          <a:prstGeom prst="rect">
            <a:avLst/>
          </a:prstGeom>
          <a:noFill/>
        </p:spPr>
        <p:txBody>
          <a:bodyPr wrap="square">
            <a:spAutoFit/>
          </a:bodyPr>
          <a:lstStyle/>
          <a:p>
            <a:r>
              <a:rPr sz="1100" b="0">
                <a:solidFill>
                  <a:srgbClr val="808080"/>
                </a:solidFill>
                <a:latin typeface="맑은 고딕"/>
              </a:rPr>
              <a:t>통계적 유의성 검증</a:t>
            </a:r>
          </a:p>
        </p:txBody>
      </p:sp>
      <p:sp>
        <p:nvSpPr>
          <p:cNvPr id="18" name="Oval 17"/>
          <p:cNvSpPr/>
          <p:nvPr/>
        </p:nvSpPr>
        <p:spPr>
          <a:xfrm>
            <a:off x="9141714" y="1645920"/>
            <a:ext cx="548640" cy="548640"/>
          </a:xfrm>
          <a:prstGeom prst="ellipse">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A1A1A"/>
                </a:solidFill>
                <a:latin typeface="맑은 고딕"/>
              </a:rPr>
              <a:t>4</a:t>
            </a:r>
          </a:p>
        </p:txBody>
      </p:sp>
      <p:sp>
        <p:nvSpPr>
          <p:cNvPr id="19" name="TextBox 18"/>
          <p:cNvSpPr txBox="1"/>
          <p:nvPr/>
        </p:nvSpPr>
        <p:spPr>
          <a:xfrm>
            <a:off x="9141714" y="2377440"/>
            <a:ext cx="2498598" cy="365760"/>
          </a:xfrm>
          <a:prstGeom prst="rect">
            <a:avLst/>
          </a:prstGeom>
          <a:noFill/>
        </p:spPr>
        <p:txBody>
          <a:bodyPr wrap="none">
            <a:spAutoFit/>
          </a:bodyPr>
          <a:lstStyle/>
          <a:p>
            <a:r>
              <a:rPr sz="1400" b="1">
                <a:solidFill>
                  <a:srgbClr val="1A1A1A"/>
                </a:solidFill>
                <a:latin typeface="맑은 고딕"/>
              </a:rPr>
              <a:t>Full Deployment</a:t>
            </a:r>
          </a:p>
        </p:txBody>
      </p:sp>
      <p:sp>
        <p:nvSpPr>
          <p:cNvPr id="20" name="TextBox 19"/>
          <p:cNvSpPr txBox="1"/>
          <p:nvPr/>
        </p:nvSpPr>
        <p:spPr>
          <a:xfrm>
            <a:off x="9141714" y="2743200"/>
            <a:ext cx="2498598" cy="274320"/>
          </a:xfrm>
          <a:prstGeom prst="rect">
            <a:avLst/>
          </a:prstGeom>
          <a:noFill/>
        </p:spPr>
        <p:txBody>
          <a:bodyPr wrap="none">
            <a:spAutoFit/>
          </a:bodyPr>
          <a:lstStyle/>
          <a:p>
            <a:r>
              <a:rPr sz="1100" b="0">
                <a:solidFill>
                  <a:srgbClr val="808080"/>
                </a:solidFill>
                <a:latin typeface="맑은 고딕"/>
              </a:rPr>
              <a:t>Pending</a:t>
            </a:r>
          </a:p>
        </p:txBody>
      </p:sp>
      <p:sp>
        <p:nvSpPr>
          <p:cNvPr id="21" name="TextBox 20"/>
          <p:cNvSpPr txBox="1"/>
          <p:nvPr/>
        </p:nvSpPr>
        <p:spPr>
          <a:xfrm>
            <a:off x="9141714" y="3108960"/>
            <a:ext cx="2498598" cy="731520"/>
          </a:xfrm>
          <a:prstGeom prst="rect">
            <a:avLst/>
          </a:prstGeom>
          <a:noFill/>
        </p:spPr>
        <p:txBody>
          <a:bodyPr wrap="square">
            <a:spAutoFit/>
          </a:bodyPr>
          <a:lstStyle/>
          <a:p>
            <a:r>
              <a:rPr sz="1100" b="0">
                <a:solidFill>
                  <a:srgbClr val="808080"/>
                </a:solidFill>
                <a:latin typeface="맑은 고딕"/>
              </a:rPr>
              <a:t>전사 확대 적용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r>
              <a:rPr sz="1300" b="1">
                <a:solidFill>
                  <a:srgbClr val="808080"/>
                </a:solidFill>
                <a:latin typeface="맑은 고딕"/>
              </a:rPr>
              <a:t/>
            </a:r>
          </a:p>
        </p:txBody>
      </p:sp>
      <p:sp>
        <p:nvSpPr>
          <p:cNvPr id="3" name="TextBox 2"/>
          <p:cNvSpPr txBox="1"/>
          <p:nvPr/>
        </p:nvSpPr>
        <p:spPr>
          <a:xfrm>
            <a:off x="548640" y="640080"/>
            <a:ext cx="10972800" cy="548640"/>
          </a:xfrm>
          <a:prstGeom prst="rect">
            <a:avLst/>
          </a:prstGeom>
          <a:noFill/>
        </p:spPr>
        <p:txBody>
          <a:bodyPr wrap="none">
            <a:spAutoFit/>
          </a:bodyPr>
          <a:lstStyle/>
          <a:p>
            <a:r>
              <a:rPr sz="2800" b="1">
                <a:solidFill>
                  <a:srgbClr val="1A1A1A"/>
                </a:solidFill>
                <a:latin typeface="맑은 고딕"/>
              </a:rPr>
              <a:t>Final Recommendation</a:t>
            </a:r>
          </a:p>
        </p:txBody>
      </p:sp>
      <p:cxnSp>
        <p:nvCxnSpPr>
          <p:cNvPr id="4" name="Connector 3"/>
          <p:cNvCxnSpPr/>
          <p:nvPr/>
        </p:nvCxnSpPr>
        <p:spPr>
          <a:xfrm>
            <a:off x="548640" y="1371600"/>
            <a:ext cx="1109167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11064240" cy="914400"/>
          </a:xfrm>
          <a:prstGeom prst="rect">
            <a:avLst/>
          </a:prstGeom>
          <a:noFill/>
        </p:spPr>
        <p:txBody>
          <a:bodyPr wrap="square">
            <a:spAutoFit/>
          </a:bodyPr>
          <a:lstStyle/>
          <a:p>
            <a:r>
              <a:rPr sz="1600" b="0">
                <a:solidFill>
                  <a:srgbClr val="1A1A1A"/>
                </a:solidFill>
                <a:latin typeface="맑은 고딕"/>
              </a:rPr>
              <a:t>Carrier Delivery가 전체 리드타임의 74.21%를 차지하는 핵심 병목으로 확인되었습니다.</a:t>
            </a:r>
          </a:p>
        </p:txBody>
      </p:sp>
      <p:sp>
        <p:nvSpPr>
          <p:cNvPr id="6" name="TextBox 5"/>
          <p:cNvSpPr txBox="1"/>
          <p:nvPr/>
        </p:nvSpPr>
        <p:spPr>
          <a:xfrm>
            <a:off x="548640" y="2560320"/>
            <a:ext cx="11064240" cy="914400"/>
          </a:xfrm>
          <a:prstGeom prst="rect">
            <a:avLst/>
          </a:prstGeom>
          <a:noFill/>
        </p:spPr>
        <p:txBody>
          <a:bodyPr wrap="square">
            <a:spAutoFit/>
          </a:bodyPr>
          <a:lstStyle/>
          <a:p>
            <a:r>
              <a:rPr sz="1600" b="0">
                <a:solidFill>
                  <a:srgbClr val="1A1A1A"/>
                </a:solidFill>
                <a:latin typeface="맑은 고딕"/>
              </a:rPr>
              <a:t>검토된 4개 시나리오 중 S1(RJ Carrier Delivery Time Reduction)을 A/B Test 검증 대상으로 승인했습니다.</a:t>
            </a:r>
          </a:p>
        </p:txBody>
      </p:sp>
      <p:sp>
        <p:nvSpPr>
          <p:cNvPr id="7" name="TextBox 6"/>
          <p:cNvSpPr txBox="1"/>
          <p:nvPr/>
        </p:nvSpPr>
        <p:spPr>
          <a:xfrm>
            <a:off x="548640" y="3474720"/>
            <a:ext cx="11064240" cy="914400"/>
          </a:xfrm>
          <a:prstGeom prst="rect">
            <a:avLst/>
          </a:prstGeom>
          <a:noFill/>
        </p:spPr>
        <p:txBody>
          <a:bodyPr wrap="square">
            <a:spAutoFit/>
          </a:bodyPr>
          <a:lstStyle/>
          <a:p>
            <a:r>
              <a:rPr sz="1600" b="0">
                <a:solidFill>
                  <a:srgbClr val="1A1A1A"/>
                </a:solidFill>
                <a:latin typeface="맑은 고딕"/>
              </a:rPr>
              <a:t>선정 근거: RCA에서 검증된 원인 중 Geography의 설명력이 가장 컸고(effect size 20.19%), Impact Score도 높았습니다(788,027). 다만 설명력만으로 고른 것은 아닙니다. 지리적 거리 자체는 단기에 바꿀 수 없는 상수이므로, 거리를 줄이는 조치(거점 신설)가 아니라 동일 거리에서 배송 시간을 줄이는 조치(전담 배차)를 처치로 정의해 실험 가능한 형태로 만들었습니다.</a:t>
            </a:r>
          </a:p>
        </p:txBody>
      </p:sp>
      <p:sp>
        <p:nvSpPr>
          <p:cNvPr id="8" name="Rectangle 7"/>
          <p:cNvSpPr/>
          <p:nvPr/>
        </p:nvSpPr>
        <p:spPr>
          <a:xfrm>
            <a:off x="548640" y="5120640"/>
            <a:ext cx="3514344"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1A1A1A"/>
                </a:solidFill>
                <a:latin typeface="맑은 고딕"/>
              </a:rPr>
              <a:t>74.21%</a:t>
            </a:r>
          </a:p>
          <a:p>
            <a:r>
              <a:rPr sz="1100" b="0">
                <a:solidFill>
                  <a:srgbClr val="808080"/>
                </a:solidFill>
                <a:latin typeface="맑은 고딕"/>
              </a:rPr>
              <a:t>Carrier Delivery 핵심 병목 비중</a:t>
            </a:r>
          </a:p>
        </p:txBody>
      </p:sp>
      <p:sp>
        <p:nvSpPr>
          <p:cNvPr id="9" name="Rectangle 8"/>
          <p:cNvSpPr/>
          <p:nvPr/>
        </p:nvSpPr>
        <p:spPr>
          <a:xfrm>
            <a:off x="4337304" y="5120640"/>
            <a:ext cx="3514344"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1A1A1A"/>
                </a:solidFill>
                <a:latin typeface="맑은 고딕"/>
              </a:rPr>
              <a:t>20.19%</a:t>
            </a:r>
          </a:p>
          <a:p>
            <a:r>
              <a:rPr sz="1100" b="0">
                <a:solidFill>
                  <a:srgbClr val="808080"/>
                </a:solidFill>
                <a:latin typeface="맑은 고딕"/>
              </a:rPr>
              <a:t>customer_state Effect Size</a:t>
            </a:r>
          </a:p>
        </p:txBody>
      </p:sp>
      <p:sp>
        <p:nvSpPr>
          <p:cNvPr id="10" name="Rectangle 9"/>
          <p:cNvSpPr/>
          <p:nvPr/>
        </p:nvSpPr>
        <p:spPr>
          <a:xfrm>
            <a:off x="8125968" y="5120640"/>
            <a:ext cx="3514344" cy="1188720"/>
          </a:xfrm>
          <a:prstGeom prst="rect">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1A1A1A"/>
                </a:solidFill>
                <a:latin typeface="맑은 고딕"/>
              </a:rPr>
              <a:t>206일</a:t>
            </a:r>
          </a:p>
          <a:p>
            <a:r>
              <a:rPr sz="1100" b="0">
                <a:solidFill>
                  <a:srgbClr val="808080"/>
                </a:solidFill>
                <a:latin typeface="맑은 고딕"/>
              </a:rPr>
              <a:t>A/B Test 예상 기간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