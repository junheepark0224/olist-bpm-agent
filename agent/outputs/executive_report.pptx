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A1A1A"/>
                </a:solidFill>
                <a:latin typeface="맑은 고딕"/>
              </a:rPr>
              <a:t>Olist E-Commerce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808080"/>
                </a:solidFill>
                <a:latin typeface="맑은 고딕"/>
              </a:rPr>
              <a:t>Delivery Process Bottleneck Analysis &amp; Improvement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808080"/>
                </a:solidFill>
                <a:latin typeface="맑은 고딕"/>
              </a:rPr>
              <a:t>Executive Report | Target: 물류 운영 책임자 및 경영진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4114800"/>
            <a:ext cx="356616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4754880"/>
            <a:ext cx="32918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1A1A"/>
                </a:solidFill>
                <a:latin typeface="맑은 고딕"/>
              </a:rPr>
              <a:t>95,082 Orders</a:t>
            </a:r>
          </a:p>
          <a:p>
            <a:r>
              <a:rPr sz="1200" b="0">
                <a:solidFill>
                  <a:srgbClr val="808080"/>
                </a:solidFill>
                <a:latin typeface="맑은 고딕"/>
              </a:rPr>
              <a:t>Analyzed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4754880"/>
            <a:ext cx="32918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1A1A"/>
                </a:solidFill>
                <a:latin typeface="맑은 고딕"/>
              </a:rPr>
              <a:t>8.2%</a:t>
            </a:r>
          </a:p>
          <a:p>
            <a:r>
              <a:rPr sz="1200" b="0">
                <a:solidFill>
                  <a:srgbClr val="808080"/>
                </a:solidFill>
                <a:latin typeface="맑은 고딕"/>
              </a:rPr>
              <a:t>Delay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754880"/>
            <a:ext cx="32918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1A1A"/>
                </a:solidFill>
                <a:latin typeface="맑은 고딕"/>
              </a:rPr>
              <a:t>4 Scenarios</a:t>
            </a:r>
          </a:p>
          <a:p>
            <a:r>
              <a:rPr sz="1200" b="0">
                <a:solidFill>
                  <a:srgbClr val="808080"/>
                </a:solidFill>
                <a:latin typeface="맑은 고딕"/>
              </a:rPr>
              <a:t>Recommended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08080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Executive Summary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645920"/>
            <a:ext cx="2567178" cy="32004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74520"/>
            <a:ext cx="229285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808080"/>
                </a:solidFill>
                <a:latin typeface="맑은 고딕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40"/>
            <a:ext cx="229285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맑은 고딕"/>
              </a:rPr>
              <a:t>8.2%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808080"/>
                </a:solidFill>
                <a:latin typeface="맑은 고딕"/>
              </a:rPr>
              <a:t>배송 지연율</a:t>
            </a:r>
          </a:p>
        </p:txBody>
      </p:sp>
      <p:sp>
        <p:nvSpPr>
          <p:cNvPr id="8" name="Rectangle 7"/>
          <p:cNvSpPr/>
          <p:nvPr/>
        </p:nvSpPr>
        <p:spPr>
          <a:xfrm>
            <a:off x="3390138" y="1645920"/>
            <a:ext cx="2567178" cy="32004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7298" y="1874520"/>
            <a:ext cx="229285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808080"/>
                </a:solidFill>
                <a:latin typeface="맑은 고딕"/>
              </a:rPr>
              <a:t>Cause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7298" y="2834640"/>
            <a:ext cx="229285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맑은 고딕"/>
              </a:rPr>
              <a:t>Carrier Delivery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808080"/>
                </a:solidFill>
                <a:latin typeface="맑은 고딕"/>
              </a:rPr>
              <a:t>핵심 병목 구간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645920"/>
            <a:ext cx="2567178" cy="32004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8796" y="1874520"/>
            <a:ext cx="229285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808080"/>
                </a:solidFill>
                <a:latin typeface="맑은 고딕"/>
              </a:rPr>
              <a:t>Top 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834640"/>
            <a:ext cx="229285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맑은 고딕"/>
              </a:rPr>
              <a:t>S1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808080"/>
                </a:solidFill>
                <a:latin typeface="맑은 고딕"/>
              </a:rPr>
              <a:t>RJ Delivery Optimization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73134" y="1645920"/>
            <a:ext cx="2567178" cy="32004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10294" y="1874520"/>
            <a:ext cx="229285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808080"/>
                </a:solidFill>
                <a:latin typeface="맑은 고딕"/>
              </a:rPr>
              <a:t>Effect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0294" y="2834640"/>
            <a:ext cx="229285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맑은 고딕"/>
              </a:rPr>
              <a:t>20.19%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808080"/>
                </a:solidFill>
                <a:latin typeface="맑은 고딕"/>
              </a:rPr>
              <a:t>1순위 원인 설명력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08080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Business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4592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1A1A1A"/>
                </a:solidFill>
                <a:latin typeface="맑은 고딕"/>
              </a:rPr>
              <a:t>7,792건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7373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08080"/>
                </a:solidFill>
                <a:latin typeface="맑은 고딕"/>
              </a:rPr>
              <a:t>전체 95,082건 주문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10312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A1A1A"/>
                </a:solidFill>
                <a:latin typeface="맑은 고딕"/>
              </a:rPr>
              <a:t>배송 지연 발생 (지연율 8.2%)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926080"/>
          <a:ext cx="11091672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72918"/>
                <a:gridCol w="2772918"/>
                <a:gridCol w="2772918"/>
                <a:gridCol w="2772918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맑은 고딕"/>
                        </a:rPr>
                        <a:t>Stage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맑은 고딕"/>
                        </a:rPr>
                        <a:t>Delayed (h)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맑은 고딕"/>
                        </a:rPr>
                        <a:t>Normal (h)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맑은 고딕"/>
                        </a:rPr>
                        <a:t>Ratio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Payment Approval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12.05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9.44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1.28x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Seller Processing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128.38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63.09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2.03x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Carrier Delivery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616.34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189.78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3.25x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08080"/>
                </a:solidFill>
                <a:latin typeface="맑은 고딕"/>
              </a:rPr>
              <a:t>Business Risk: 고객 경험 저하 · 브랜드 신뢰도 하락 · 운영 비용 증가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08080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Process Modeling (BPMN)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p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237" y="1645920"/>
            <a:ext cx="5112477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08080"/>
                </a:solidFill>
                <a:latin typeface="맑은 고딕"/>
              </a:rPr>
              <a:t>각 구간별 병목 발생 가능성을 가설로 설정 → Bottleneck Detection으로 검증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08080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Bottleneck Detection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A1A"/>
                </a:solidFill>
                <a:latin typeface="맑은 고딕"/>
              </a:rPr>
              <a:t>Carrier Delivery 74.21% of Total Lead Time | 지연 주문에서 3.25배 증가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3514344" cy="100584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2200" b="1">
                <a:solidFill>
                  <a:srgbClr val="1A1A1A"/>
                </a:solidFill>
                <a:latin typeface="맑은 고딕"/>
              </a:rPr>
              <a:t>74.21%</a:t>
            </a:r>
          </a:p>
          <a:p>
            <a:r>
              <a:rPr sz="1100" b="0">
                <a:solidFill>
                  <a:srgbClr val="808080"/>
                </a:solidFill>
                <a:latin typeface="맑은 고딕"/>
              </a:rPr>
              <a:t>Carrier Delivery · avg 224.74h</a:t>
            </a:r>
          </a:p>
        </p:txBody>
      </p:sp>
      <p:sp>
        <p:nvSpPr>
          <p:cNvPr id="7" name="Rectangle 6"/>
          <p:cNvSpPr/>
          <p:nvPr/>
        </p:nvSpPr>
        <p:spPr>
          <a:xfrm>
            <a:off x="4337304" y="2194560"/>
            <a:ext cx="3514344" cy="100584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2200" b="1">
                <a:solidFill>
                  <a:srgbClr val="1A1A1A"/>
                </a:solidFill>
                <a:latin typeface="맑은 고딕"/>
              </a:rPr>
              <a:t>22.6%</a:t>
            </a:r>
          </a:p>
          <a:p>
            <a:r>
              <a:rPr sz="1100" b="0">
                <a:solidFill>
                  <a:srgbClr val="808080"/>
                </a:solidFill>
                <a:latin typeface="맑은 고딕"/>
              </a:rPr>
              <a:t>Seller Processing · avg 68.44h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5968" y="2194560"/>
            <a:ext cx="3514344" cy="100584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2200" b="1">
                <a:solidFill>
                  <a:srgbClr val="1A1A1A"/>
                </a:solidFill>
                <a:latin typeface="맑은 고딕"/>
              </a:rPr>
              <a:t>3.19%</a:t>
            </a:r>
          </a:p>
          <a:p>
            <a:r>
              <a:rPr sz="1100" b="0">
                <a:solidFill>
                  <a:srgbClr val="808080"/>
                </a:solidFill>
                <a:latin typeface="맑은 고딕"/>
              </a:rPr>
              <a:t>Payment Approval · avg 9.65h</a:t>
            </a:r>
          </a:p>
        </p:txBody>
      </p:sp>
      <p:pic>
        <p:nvPicPr>
          <p:cNvPr id="9" name="Picture 8" descr="stage_tim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114" y="3566160"/>
            <a:ext cx="4681728" cy="2926080"/>
          </a:xfrm>
          <a:prstGeom prst="rect">
            <a:avLst/>
          </a:prstGeom>
        </p:spPr>
      </p:pic>
      <p:pic>
        <p:nvPicPr>
          <p:cNvPr id="10" name="Picture 9" descr="delayed_vs_norm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5110" y="3566160"/>
            <a:ext cx="4681728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08080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Root Cause Analysis — Carrier Delivery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08080"/>
                </a:solidFill>
                <a:latin typeface="맑은 고딕"/>
              </a:rPr>
              <a:t>1st Bottleneck | Lead Time 74.21%</a:t>
            </a:r>
          </a:p>
        </p:txBody>
      </p:sp>
      <p:pic>
        <p:nvPicPr>
          <p:cNvPr id="6" name="Picture 5" descr="effect_size_carrier_deli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6400800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98079" y="2103120"/>
            <a:ext cx="4142233" cy="187452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400" b="1">
                <a:solidFill>
                  <a:srgbClr val="1A1A1A"/>
                </a:solidFill>
                <a:latin typeface="맑은 고딕"/>
              </a:rPr>
              <a:t>Geography</a:t>
            </a:r>
          </a:p>
          <a:p>
            <a:r>
              <a:rPr sz="1800" b="1">
                <a:solidFill>
                  <a:srgbClr val="808080"/>
                </a:solidFill>
                <a:latin typeface="맑은 고딕"/>
              </a:rPr>
              <a:t>η²=20.19%</a:t>
            </a:r>
          </a:p>
          <a:p>
            <a:r>
              <a:rPr sz="1000" b="0">
                <a:solidFill>
                  <a:srgbClr val="808080"/>
                </a:solidFill>
                <a:latin typeface="맑은 고딕"/>
              </a:rPr>
              <a:t>고객 지역(customer_state)에 따라 배송 지연 편차가 매우 크며, SP 132.9h → AP 589.5h로 약 4.4배 차이가 나타나 지리적 요인이 캐리어 배송 병목의 가장 큰 원인으로 확인됩니다.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4160520"/>
            <a:ext cx="4142233" cy="187452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400" b="1">
                <a:solidFill>
                  <a:srgbClr val="1A1A1A"/>
                </a:solidFill>
                <a:latin typeface="맑은 고딕"/>
              </a:rPr>
              <a:t>Seasonality</a:t>
            </a:r>
          </a:p>
          <a:p>
            <a:r>
              <a:rPr sz="1800" b="1">
                <a:solidFill>
                  <a:srgbClr val="808080"/>
                </a:solidFill>
                <a:latin typeface="맑은 고딕"/>
              </a:rPr>
              <a:t>η²=5.77%</a:t>
            </a:r>
          </a:p>
          <a:p>
            <a:r>
              <a:rPr sz="1000" b="0">
                <a:solidFill>
                  <a:srgbClr val="808080"/>
                </a:solidFill>
                <a:latin typeface="맑은 고딕"/>
              </a:rPr>
              <a:t>배송 월(carrier_month)에 따라서도 유의미한 차이가 있으며, 8월 148.5h → 3월 294.9h로 약 2.0배 차이가 나타나 계절적/시기적 요인이 부가적인 지연 원인으로 작용합니다.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캐리어 배송 지연의 가장 큰 원인은 고객이 위치한 지역으로, SP 대비 AP 지역은 배송 시간이 약 4.4배 길어 원거리·인프라 취약 지역의 영향이 뚜렷합니다. 계절적 요인(carrier_month) 또한 3월과 8월 간 약 2배 차이를 보이며 물량 및 기상 조건에 따른 변동성을 시사합니다. 두 요인을 합산하면 전체 병목 설명력의 약 26%를 차지합니다.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08080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Root Cause Analysis — Seller Processing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08080"/>
                </a:solidFill>
                <a:latin typeface="맑은 고딕"/>
              </a:rPr>
              <a:t>2nd Bottleneck | Lead Time 22.6%</a:t>
            </a:r>
          </a:p>
        </p:txBody>
      </p:sp>
      <p:pic>
        <p:nvPicPr>
          <p:cNvPr id="6" name="Picture 5" descr="effect_size_seller_proce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6400800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98079" y="2103120"/>
            <a:ext cx="4142233" cy="118872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200" b="1">
                <a:solidFill>
                  <a:srgbClr val="1A1A1A"/>
                </a:solidFill>
                <a:latin typeface="맑은 고딕"/>
              </a:rPr>
              <a:t>Product Category</a:t>
            </a:r>
          </a:p>
          <a:p>
            <a:r>
              <a:rPr sz="1500" b="1">
                <a:solidFill>
                  <a:srgbClr val="808080"/>
                </a:solidFill>
                <a:latin typeface="맑은 고딕"/>
              </a:rPr>
              <a:t>η²=8.35%</a:t>
            </a:r>
          </a:p>
          <a:p>
            <a:r>
              <a:rPr sz="900" b="0">
                <a:solidFill>
                  <a:srgbClr val="808080"/>
                </a:solidFill>
                <a:latin typeface="맑은 고딕"/>
              </a:rPr>
              <a:t>상품 카테고리별 처리 시간 차이가 커서 cine_photo 36.2h → office_furniture 247.9h로 약 6.8배 차이가 나며, 이는 판매자 처리 지연의 가장 큰 요인으로 나타났습니다.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474720"/>
            <a:ext cx="4142233" cy="118872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200" b="1">
                <a:solidFill>
                  <a:srgbClr val="1A1A1A"/>
                </a:solidFill>
                <a:latin typeface="맑은 고딕"/>
              </a:rPr>
              <a:t>Seasonality</a:t>
            </a:r>
          </a:p>
          <a:p>
            <a:r>
              <a:rPr sz="1500" b="1">
                <a:solidFill>
                  <a:srgbClr val="808080"/>
                </a:solidFill>
                <a:latin typeface="맑은 고딕"/>
              </a:rPr>
              <a:t>η²=2.45%</a:t>
            </a:r>
          </a:p>
          <a:p>
            <a:r>
              <a:rPr sz="900" b="0">
                <a:solidFill>
                  <a:srgbClr val="808080"/>
                </a:solidFill>
                <a:latin typeface="맑은 고딕"/>
              </a:rPr>
              <a:t>판매자 처리 요일에 따라 월요일 57.3h에서 토요일 91.8h로 약 1.6배 차이가 발생하여, 주말 처리 지연이 병목의 한 원인으로 작용합니다.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4846320"/>
            <a:ext cx="4142233" cy="118872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/>
            <a:r>
              <a:rPr sz="1200" b="1">
                <a:solidFill>
                  <a:srgbClr val="1A1A1A"/>
                </a:solidFill>
                <a:latin typeface="맑은 고딕"/>
              </a:rPr>
              <a:t>Physical Characteristics</a:t>
            </a:r>
          </a:p>
          <a:p>
            <a:r>
              <a:rPr sz="1500" b="1">
                <a:solidFill>
                  <a:srgbClr val="808080"/>
                </a:solidFill>
                <a:latin typeface="맑은 고딕"/>
              </a:rPr>
              <a:t>η²=2.27%</a:t>
            </a:r>
          </a:p>
          <a:p>
            <a:r>
              <a:rPr sz="900" b="0">
                <a:solidFill>
                  <a:srgbClr val="808080"/>
                </a:solidFill>
                <a:latin typeface="맑은 고딕"/>
              </a:rPr>
              <a:t>상품 무게(product_weight_g)는 처리 시간과 약한 양의 상관관계(effect_size_pct 2.27%)를 보여, 무게가 클수록 포장 및 처리에 추가 시간이 소요될 가능성을 시사합니다.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판매자 처리 지연의 가장 큰 원인은 상품 카테고리 차이로, 가구류 등 일부 카테고리가 사진/영상 관련 상품보다 최대 6.8배 더 오래 걸립니다. 요일별로는 토요일 처리가 월요일보다 느려 주말 운영 효율성 문제가 드러나며, 상품 무게도 소폭 영향을 미치는 것으로 확인됩니다.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08080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Cause-Effect Diagrams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ause_effect_diagram_carrier_deli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408676" cy="12543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991674"/>
            <a:ext cx="54086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808080"/>
                </a:solidFill>
                <a:latin typeface="맑은 고딕"/>
              </a:rPr>
              <a:t>Carrier Delivery</a:t>
            </a:r>
          </a:p>
        </p:txBody>
      </p:sp>
      <p:pic>
        <p:nvPicPr>
          <p:cNvPr id="7" name="Picture 6" descr="cause_effect_diagram_seller_proces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645920"/>
            <a:ext cx="5408676" cy="16308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1636" y="3368191"/>
            <a:ext cx="54086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808080"/>
                </a:solidFill>
                <a:latin typeface="맑은 고딕"/>
              </a:rPr>
              <a:t>Seller Processing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08080"/>
                </a:solidFill>
                <a:latin typeface="맑은 고딕"/>
              </a:rPr>
              <a:t>※ 카테고리와 η²는 ④단계 계산값. 각 카테고리 아래의 세부 원인(details)은 LLM이 도메인 지식으로 생성한 가설이며 이 데이터로 검증되지 않았음. 인과 판단이 필요한 산출물은 자동화 대상에서 제외한다는 원칙에 따라 검증 없이 게시함.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08080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Impact Score Ranking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808080"/>
                </a:solidFill>
                <a:latin typeface="맑은 고딕"/>
              </a:rPr>
              <a:t>전체 후보 — Effect Size(원인의 설명력) + Impact Score(개선 시 기대 효과)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03120"/>
          <a:ext cx="11091672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72918"/>
                <a:gridCol w="2772918"/>
                <a:gridCol w="2772918"/>
                <a:gridCol w="2772918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맑은 고딕"/>
                        </a:rPr>
                        <a:t>Scenario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맑은 고딕"/>
                        </a:rPr>
                        <a:t>Orders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맑은 고딕"/>
                        </a:rPr>
                        <a:t>Effect Size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맑은 고딕"/>
                        </a:rPr>
                        <a:t>Impact Score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고객 주(州) = RJ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12,210건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20.19%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788,027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배송 월 = 3월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9,706건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5.77%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740,331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배송 월 = 2월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7,966건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5.77%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571,326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고객 주(州) = BA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3,210건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20.19%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515,586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배송 월 = 12월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6,016건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5.77%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380,005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고객 주(州) = RS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5,260건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20.19%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349,653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1A1A"/>
                </a:solidFill>
                <a:latin typeface="맑은 고딕"/>
              </a:rPr>
              <a:t>Root Cause의 설명력(Effect Size)과 Business Impact(Impact Score)는 다른 질문에 답한다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08080"/>
                </a:solidFill>
                <a:latin typeface="맑은 고딕"/>
              </a:rPr>
              <a:t>※ Impact Score = (그룹 평균 − 전체 평균) × 주문 건수. 개선 우선순위 지표이며 실제 절감 시간이 아님. 지연율 변화 시뮬레이션은 검증되지 않은 가정에 기반하므로 의도적으로 수행하지 않음.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08080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Recommended Scenarios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91672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72918"/>
                <a:gridCol w="2772918"/>
                <a:gridCol w="2772918"/>
                <a:gridCol w="2772918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맑은 고딕"/>
                        </a:rPr>
                        <a:t>Title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맑은 고딕"/>
                        </a:rPr>
                        <a:t>Effect Size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맑은 고딕"/>
                        </a:rPr>
                        <a:t>Impact Score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S1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RJ Delivery Optimization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20.19%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788,027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S2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Office Furniture Processing Time Reduction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8.35%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295,903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S3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Carnival Season Carrier Delay Mitigation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5.77%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1,311,657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S4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Pre-Weekend Seller Processing Slowdown Fix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2.45%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맑은 고딕"/>
                        </a:rPr>
                        <a:t>519,915</a:t>
                      </a:r>
                    </a:p>
                  </a:txBody>
                  <a:tcPr>
                    <a:lnL w="9525">
                      <a:solidFill>
                        <a:srgbClr val="CCCCCC"/>
                      </a:solidFill>
                    </a:lnL>
                    <a:lnR w="9525">
                      <a:solidFill>
                        <a:srgbClr val="CCCCCC"/>
                      </a:solidFill>
                    </a:lnR>
                    <a:lnT w="9525">
                      <a:solidFill>
                        <a:srgbClr val="CCCCCC"/>
                      </a:solidFill>
                    </a:lnT>
                    <a:lnB w="9525">
                      <a:solidFill>
                        <a:srgbClr val="CCCCC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08080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A/B Test Design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A1A"/>
                </a:solidFill>
                <a:latin typeface="맑은 고딕"/>
              </a:rPr>
              <a:t>S1: RJ Delivery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808080"/>
                </a:solidFill>
                <a:latin typeface="맑은 고딕"/>
              </a:rPr>
              <a:t>Primary Metric</a:t>
            </a:r>
          </a:p>
          <a:p>
            <a:r>
              <a:rPr sz="1500" b="1">
                <a:solidFill>
                  <a:srgbClr val="1A1A1A"/>
                </a:solidFill>
                <a:latin typeface="맑은 고딕"/>
              </a:rPr>
              <a:t>Carrier Delivery (days)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808080"/>
                </a:solidFill>
                <a:latin typeface="맑은 고딕"/>
              </a:rPr>
              <a:t>Baseline</a:t>
            </a:r>
          </a:p>
          <a:p>
            <a:r>
              <a:rPr sz="1500" b="1">
                <a:solidFill>
                  <a:srgbClr val="1A1A1A"/>
                </a:solidFill>
                <a:latin typeface="맑은 고딕"/>
              </a:rPr>
              <a:t>12.05 days (RJ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808080"/>
                </a:solidFill>
                <a:latin typeface="맑은 고딕"/>
              </a:rPr>
              <a:t>MDE</a:t>
            </a:r>
          </a:p>
          <a:p>
            <a:r>
              <a:rPr sz="1500" b="1">
                <a:solidFill>
                  <a:srgbClr val="1A1A1A"/>
                </a:solidFill>
                <a:latin typeface="맑은 고딕"/>
              </a:rPr>
              <a:t>1.0 days → Target 11.05 days (상대 8.3%)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519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808080"/>
                </a:solidFill>
                <a:latin typeface="맑은 고딕"/>
              </a:rPr>
              <a:t>Alpha / Power</a:t>
            </a:r>
          </a:p>
          <a:p>
            <a:r>
              <a:rPr sz="1500" b="1">
                <a:solidFill>
                  <a:srgbClr val="1A1A1A"/>
                </a:solidFill>
                <a:latin typeface="맑은 고딕"/>
              </a:rPr>
              <a:t>α=0.05 / Power=0.8 (two-sided)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808080"/>
                </a:solidFill>
                <a:latin typeface="맑은 고딕"/>
              </a:rPr>
              <a:t>Sample Size</a:t>
            </a:r>
          </a:p>
          <a:p>
            <a:r>
              <a:rPr sz="1500" b="1">
                <a:solidFill>
                  <a:srgbClr val="1A1A1A"/>
                </a:solidFill>
                <a:latin typeface="맑은 고딕"/>
              </a:rPr>
              <a:t>3,636건 (그룹당 1,818건)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235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808080"/>
                </a:solidFill>
                <a:latin typeface="맑은 고딕"/>
              </a:rPr>
              <a:t>Experiment Unit</a:t>
            </a:r>
          </a:p>
          <a:p>
            <a:r>
              <a:rPr sz="1500" b="1">
                <a:solidFill>
                  <a:srgbClr val="1A1A1A"/>
                </a:solidFill>
                <a:latin typeface="맑은 고딕"/>
              </a:rPr>
              <a:t>order (Design Effect 1.0)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21945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808080"/>
                </a:solidFill>
                <a:latin typeface="맑은 고딕"/>
              </a:rPr>
              <a:t>Treatment</a:t>
            </a:r>
          </a:p>
          <a:p>
            <a:r>
              <a:rPr sz="1400" b="0">
                <a:solidFill>
                  <a:srgbClr val="1A1A1A"/>
                </a:solidFill>
                <a:latin typeface="맑은 고딕"/>
              </a:rPr>
              <a:t>RJ향 주문을 전담 배차 라인으로 전환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28803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808080"/>
                </a:solidFill>
                <a:latin typeface="맑은 고딕"/>
              </a:rPr>
              <a:t>Control</a:t>
            </a:r>
          </a:p>
          <a:p>
            <a:r>
              <a:rPr sz="1400" b="0">
                <a:solidFill>
                  <a:srgbClr val="1A1A1A"/>
                </a:solidFill>
                <a:latin typeface="맑은 고딕"/>
              </a:rPr>
              <a:t>기존 배차 프로세스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374904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08080"/>
                </a:solidFill>
                <a:latin typeface="맑은 고딕"/>
              </a:rPr>
              <a:t>Success Criteria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411480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✓  Primary Metric (Carrier Delivery Time)이 MDE 이상 감소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✓  p_value &lt; 0.05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✓  Secondary Metric (Delivery Delay Rate) 감소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✓  Guardrail Metric 악화 없음 (비열등성 검정)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08080"/>
                </a:solidFill>
                <a:latin typeface="맑은 고딕"/>
              </a:rPr>
              <a:t>실행 가능성 판정: feasible — 예상 기간 206일로 임계값 365일 이내이다. (대상 트래픽 하루 17.6건 기준)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08080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Implementation Roadmap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22960" y="1920240"/>
            <a:ext cx="10543032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548640" y="1645920"/>
            <a:ext cx="548640" cy="54864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49859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1A1A"/>
                </a:solidFill>
                <a:latin typeface="맑은 고딕"/>
              </a:rPr>
              <a:t>Analysis 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249859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맑은 고딕"/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24985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맑은 고딕"/>
              </a:rPr>
              <a:t>1~8단계 분석 완료</a:t>
            </a:r>
          </a:p>
        </p:txBody>
      </p:sp>
      <p:sp>
        <p:nvSpPr>
          <p:cNvPr id="10" name="Oval 9"/>
          <p:cNvSpPr/>
          <p:nvPr/>
        </p:nvSpPr>
        <p:spPr>
          <a:xfrm>
            <a:off x="3412998" y="16459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A1A1A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2998" y="2377440"/>
            <a:ext cx="249859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1A1A"/>
                </a:solidFill>
                <a:latin typeface="맑은 고딕"/>
              </a:rPr>
              <a:t>A/B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998" y="2743200"/>
            <a:ext cx="249859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맑은 고딕"/>
              </a:rPr>
              <a:t>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2998" y="3108960"/>
            <a:ext cx="24985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맑은 고딕"/>
              </a:rPr>
              <a:t>1순위 시나리오 실험 설계</a:t>
            </a:r>
          </a:p>
        </p:txBody>
      </p:sp>
      <p:sp>
        <p:nvSpPr>
          <p:cNvPr id="14" name="Oval 13"/>
          <p:cNvSpPr/>
          <p:nvPr/>
        </p:nvSpPr>
        <p:spPr>
          <a:xfrm>
            <a:off x="6277356" y="16459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A1A1A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7356" y="2377440"/>
            <a:ext cx="249859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1A1A"/>
                </a:solidFill>
                <a:latin typeface="맑은 고딕"/>
              </a:rPr>
              <a:t>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7356" y="2743200"/>
            <a:ext cx="249859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맑은 고딕"/>
              </a:rPr>
              <a:t>Pending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7356" y="3108960"/>
            <a:ext cx="24985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맑은 고딕"/>
              </a:rPr>
              <a:t>통계적 유의성 검증</a:t>
            </a:r>
          </a:p>
        </p:txBody>
      </p:sp>
      <p:sp>
        <p:nvSpPr>
          <p:cNvPr id="18" name="Oval 17"/>
          <p:cNvSpPr/>
          <p:nvPr/>
        </p:nvSpPr>
        <p:spPr>
          <a:xfrm>
            <a:off x="9141714" y="16459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A1A1A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1714" y="2377440"/>
            <a:ext cx="249859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1A1A"/>
                </a:solidFill>
                <a:latin typeface="맑은 고딕"/>
              </a:rPr>
              <a:t>Full Deployment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1714" y="2743200"/>
            <a:ext cx="249859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맑은 고딕"/>
              </a:rPr>
              <a:t>Pending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1714" y="3108960"/>
            <a:ext cx="249859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맑은 고딕"/>
              </a:rPr>
              <a:t>전사 확대 적용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08080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Final Recommendation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459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  <a:latin typeface="맑은 고딕"/>
              </a:rPr>
              <a:t>Carrier Delivery가 전체 리드타임의 74.21%를 차지하는 핵심 병목으로 확인되었습니다.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  <a:latin typeface="맑은 고딕"/>
              </a:rPr>
              <a:t>검토된 4개 시나리오 중 S1(RJ Delivery Optimization)을 A/B Test 검증 대상으로 승인했습니다.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  <a:latin typeface="맑은 고딕"/>
              </a:rPr>
              <a:t>선정 근거: RCA에서 검증된 원인 중 Geography의 설명력이 가장 컸고(effect size 20.19%), Impact Score도 높았습니다(788,027). 다만 설명력만으로 고른 것은 아닙니다. 지리적 거리 자체는 단기에 바꿀 수 없는 상수이므로, 거리를 줄이는 조치(거점 신설)가 아니라 동일 거리에서 배송 시간을 줄이는 조치(전담 배차)를 처치로 정의해 실험 가능한 형태로 만들었습니다.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120640"/>
            <a:ext cx="3514344" cy="118872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/>
            <a:r>
              <a:rPr sz="2400" b="1">
                <a:solidFill>
                  <a:srgbClr val="1A1A1A"/>
                </a:solidFill>
                <a:latin typeface="맑은 고딕"/>
              </a:rPr>
              <a:t>74.21%</a:t>
            </a:r>
          </a:p>
          <a:p>
            <a:r>
              <a:rPr sz="1100" b="0">
                <a:solidFill>
                  <a:srgbClr val="808080"/>
                </a:solidFill>
                <a:latin typeface="맑은 고딕"/>
              </a:rPr>
              <a:t>Carrier Delivery 핵심 병목 비중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5120640"/>
            <a:ext cx="3514344" cy="118872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/>
            <a:r>
              <a:rPr sz="2400" b="1">
                <a:solidFill>
                  <a:srgbClr val="1A1A1A"/>
                </a:solidFill>
                <a:latin typeface="맑은 고딕"/>
              </a:rPr>
              <a:t>20.19%</a:t>
            </a:r>
          </a:p>
          <a:p>
            <a:r>
              <a:rPr sz="1100" b="0">
                <a:solidFill>
                  <a:srgbClr val="808080"/>
                </a:solidFill>
                <a:latin typeface="맑은 고딕"/>
              </a:rPr>
              <a:t>customer_state Effect Size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5968" y="5120640"/>
            <a:ext cx="3514344" cy="118872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/>
            <a:r>
              <a:rPr sz="2400" b="1">
                <a:solidFill>
                  <a:srgbClr val="1A1A1A"/>
                </a:solidFill>
                <a:latin typeface="맑은 고딕"/>
              </a:rPr>
              <a:t>206일</a:t>
            </a:r>
          </a:p>
          <a:p>
            <a:r>
              <a:rPr sz="1100" b="0">
                <a:solidFill>
                  <a:srgbClr val="808080"/>
                </a:solidFill>
                <a:latin typeface="맑은 고딕"/>
              </a:rPr>
              <a:t>A/B Test 예상 기간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